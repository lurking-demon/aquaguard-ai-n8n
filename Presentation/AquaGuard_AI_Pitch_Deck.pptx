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71" r:id="rId5"/>
    <p:sldId id="272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70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B7684"/>
    <a:srgbClr val="1B7A72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14845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B26D9F-0B27-9C87-07DF-7989058199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4E2934-5530-9DA2-FD2E-F17E83B0C2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CD9DDD-EC6A-C586-CEC4-E9C483E1C0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52A753-275A-7A81-DC78-3A1A7662C96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85298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D47F76-1252-F2EE-588D-EB0D7E26C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9094C3-FB6F-150F-DC3C-ED0DE29112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B13F64-A27C-4FBD-5D2B-112332984D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783C6B-109E-C8B7-376F-7AB09D99976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3393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323220-72A7-FB3D-D990-7A64C5CED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F5264F-1EF4-6973-F03A-54BF365F0B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7F74FD-6CEC-FA25-C486-9085441249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351B72-CB6C-768C-8B23-0E3E958F036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2032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10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685800"/>
            <a:ext cx="5486400" cy="5486400"/>
          </a:xfrm>
          <a:prstGeom prst="ellipse">
            <a:avLst/>
          </a:prstGeom>
          <a:ln w="19050">
            <a:solidFill>
              <a:srgbClr val="2EA89D">
                <a:alpha val="6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543800" y="1280160"/>
            <a:ext cx="4297680" cy="4297680"/>
          </a:xfrm>
          <a:prstGeom prst="ellipse">
            <a:avLst/>
          </a:prstGeom>
          <a:ln w="19050">
            <a:solidFill>
              <a:srgbClr val="2EA89D">
                <a:alpha val="9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38160" y="1874520"/>
            <a:ext cx="3108960" cy="3108960"/>
          </a:xfrm>
          <a:prstGeom prst="ellipse">
            <a:avLst/>
          </a:prstGeom>
          <a:ln w="19050">
            <a:solidFill>
              <a:srgbClr val="2EA89D">
                <a:alpha val="1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32520" y="2468880"/>
            <a:ext cx="1920240" cy="1920240"/>
          </a:xfrm>
          <a:prstGeom prst="ellipse">
            <a:avLst/>
          </a:prstGeom>
          <a:ln w="19050">
            <a:solidFill>
              <a:srgbClr val="2EA89D">
                <a:alpha val="2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89720" y="2926080"/>
            <a:ext cx="1005840" cy="1005840"/>
          </a:xfrm>
          <a:prstGeom prst="ellipse">
            <a:avLst/>
          </a:prstGeom>
          <a:solidFill>
            <a:srgbClr val="1B7A72"/>
          </a:solidFill>
          <a:ln/>
        </p:spPr>
      </p:sp>
      <p:pic>
        <p:nvPicPr>
          <p:cNvPr id="7" name="Image 0" descr="icons/droplet_F4F8F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0479" y="3056839"/>
            <a:ext cx="744322" cy="74432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2331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2EA8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AQUAGUARD AI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2743200"/>
            <a:ext cx="7863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4F8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Water pollution doesn't wait for</a:t>
            </a:r>
            <a:endParaRPr lang="en-US" sz="4000" dirty="0"/>
          </a:p>
          <a:p>
            <a:pPr marL="0" indent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4F8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next lab report.</a:t>
            </a:r>
            <a:endParaRPr lang="en-US" sz="4000" dirty="0"/>
          </a:p>
        </p:txBody>
      </p:sp>
      <p:sp>
        <p:nvSpPr>
          <p:cNvPr id="10" name="Text 7"/>
          <p:cNvSpPr/>
          <p:nvPr/>
        </p:nvSpPr>
        <p:spPr>
          <a:xfrm>
            <a:off x="640080" y="443484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9F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always-on monitoring agent that reads live water-quality data, tells authorities exactly what's wrong, and does it within minutes of a breach.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40080" y="5989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&amp; Partner Briefing   ·   AquaGuard AI Founding Team   ·  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2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920240"/>
            <a:ext cx="502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7A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188720" y="1920240"/>
            <a:ext cx="4709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 </a:t>
            </a:r>
            <a:r>
              <a:rPr lang="en-US" sz="1200" dirty="0">
                <a:solidFill>
                  <a:srgbClr val="5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pollution detection is too slow today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263640" y="1920240"/>
            <a:ext cx="502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7A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12280" y="1920240"/>
            <a:ext cx="4709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 </a:t>
            </a:r>
            <a:r>
              <a:rPr lang="en-US" sz="1200" dirty="0">
                <a:solidFill>
                  <a:srgbClr val="5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impact on aquatic life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40080" y="2487168"/>
            <a:ext cx="502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7A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2487168"/>
            <a:ext cx="4709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Consequences  </a:t>
            </a:r>
            <a:r>
              <a:rPr lang="en-US" sz="1200" dirty="0">
                <a:solidFill>
                  <a:srgbClr val="5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cost of delay 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263640" y="2487168"/>
            <a:ext cx="502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7A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812280" y="2487168"/>
            <a:ext cx="4709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  </a:t>
            </a:r>
            <a:r>
              <a:rPr lang="en-US" sz="1200" dirty="0">
                <a:solidFill>
                  <a:srgbClr val="5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size and shape of the demand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40080" y="3054096"/>
            <a:ext cx="502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7A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88720" y="3054096"/>
            <a:ext cx="4709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  </a:t>
            </a:r>
            <a:r>
              <a:rPr lang="en-US" sz="1200" dirty="0">
                <a:solidFill>
                  <a:srgbClr val="5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</a:t>
            </a:r>
            <a:r>
              <a:rPr lang="en-US" sz="1200" dirty="0" err="1">
                <a:solidFill>
                  <a:srgbClr val="5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AquaGuard</a:t>
            </a:r>
            <a:r>
              <a:rPr lang="en-US" sz="1200" dirty="0">
                <a:solidFill>
                  <a:srgbClr val="5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AI does differently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263640" y="3054096"/>
            <a:ext cx="502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7A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812280" y="3054096"/>
            <a:ext cx="4709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 </a:t>
            </a:r>
            <a:r>
              <a:rPr lang="en-US" sz="1200" dirty="0">
                <a:solidFill>
                  <a:srgbClr val="5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detection-to-alert pipeline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40080" y="3621024"/>
            <a:ext cx="502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7A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88720" y="3621024"/>
            <a:ext cx="4709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Snapshot  </a:t>
            </a:r>
            <a:r>
              <a:rPr lang="en-US" sz="1200" dirty="0">
                <a:solidFill>
                  <a:srgbClr val="5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an authority actually receives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263640" y="3621024"/>
            <a:ext cx="502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7A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812280" y="3621024"/>
            <a:ext cx="4709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Landscape  </a:t>
            </a:r>
            <a:r>
              <a:rPr lang="en-US" sz="1200" dirty="0">
                <a:solidFill>
                  <a:srgbClr val="5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sit verses alternatives  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40080" y="4187952"/>
            <a:ext cx="502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7A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188720" y="4187952"/>
            <a:ext cx="4709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&amp; Early Adopters  </a:t>
            </a:r>
            <a:r>
              <a:rPr lang="en-US" sz="1200" dirty="0">
                <a:solidFill>
                  <a:srgbClr val="5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we serve first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263640" y="4187952"/>
            <a:ext cx="502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7A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812280" y="4187952"/>
            <a:ext cx="4709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  </a:t>
            </a:r>
            <a:r>
              <a:rPr lang="en-US" sz="1200" dirty="0">
                <a:solidFill>
                  <a:srgbClr val="5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How </a:t>
            </a:r>
            <a:r>
              <a:rPr lang="en-US" sz="1200" dirty="0" err="1">
                <a:solidFill>
                  <a:srgbClr val="5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AquaGuard</a:t>
            </a:r>
            <a:r>
              <a:rPr lang="en-US" sz="1200" dirty="0">
                <a:solidFill>
                  <a:srgbClr val="5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AI makes money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40080" y="4754880"/>
            <a:ext cx="502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7A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188720" y="4754880"/>
            <a:ext cx="4709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</a:t>
            </a:r>
            <a:r>
              <a:rPr lang="en-US" sz="1350" b="1" dirty="0" err="1">
                <a:solidFill>
                  <a:srgbClr val="0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Aquaguard</a:t>
            </a:r>
            <a:r>
              <a:rPr lang="en-US" sz="1350" b="1" dirty="0">
                <a:solidFill>
                  <a:srgbClr val="0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200" dirty="0">
                <a:solidFill>
                  <a:srgbClr val="5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advantage and key metrics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5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AQUAGUARD AI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0052C19-C662-8B1D-24E6-E8E8DC5461CC}"/>
              </a:ext>
            </a:extLst>
          </p:cNvPr>
          <p:cNvSpPr txBox="1"/>
          <p:nvPr/>
        </p:nvSpPr>
        <p:spPr>
          <a:xfrm>
            <a:off x="6263640" y="4852737"/>
            <a:ext cx="54864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500" b="1" dirty="0">
                <a:solidFill>
                  <a:srgbClr val="1B7A7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12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354F622-70EB-6365-C77A-37429CE0FEA3}"/>
              </a:ext>
            </a:extLst>
          </p:cNvPr>
          <p:cNvSpPr txBox="1"/>
          <p:nvPr/>
        </p:nvSpPr>
        <p:spPr>
          <a:xfrm>
            <a:off x="6812280" y="4754880"/>
            <a:ext cx="43433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350" b="1" dirty="0">
                <a:ea typeface="Cambria" panose="02040503050406030204" pitchFamily="18" charset="0"/>
              </a:rPr>
              <a:t>Roadmap</a:t>
            </a:r>
            <a:r>
              <a:rPr lang="en-IN" dirty="0"/>
              <a:t> </a:t>
            </a:r>
            <a:r>
              <a:rPr lang="en-IN" sz="1200" dirty="0">
                <a:solidFill>
                  <a:srgbClr val="5B7684"/>
                </a:solidFill>
              </a:rPr>
              <a:t>The path from pilot to scale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65CA8CD-F22C-A983-EC1E-079784A61546}"/>
              </a:ext>
            </a:extLst>
          </p:cNvPr>
          <p:cNvSpPr txBox="1"/>
          <p:nvPr/>
        </p:nvSpPr>
        <p:spPr>
          <a:xfrm>
            <a:off x="640080" y="5407114"/>
            <a:ext cx="50292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500" b="1" dirty="0">
                <a:solidFill>
                  <a:srgbClr val="1B7A7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13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8D29D92-400D-CC09-F896-9A2090C158B1}"/>
              </a:ext>
            </a:extLst>
          </p:cNvPr>
          <p:cNvSpPr txBox="1"/>
          <p:nvPr/>
        </p:nvSpPr>
        <p:spPr>
          <a:xfrm>
            <a:off x="1188720" y="5407114"/>
            <a:ext cx="3824438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350" b="1" dirty="0"/>
              <a:t>The Ask </a:t>
            </a:r>
            <a:r>
              <a:rPr lang="en-IN" sz="1200" dirty="0">
                <a:solidFill>
                  <a:srgbClr val="5B7684"/>
                </a:solidFill>
              </a:rPr>
              <a:t>How we would like to work together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2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Contamination is found late — after it's already spread.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42900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B2B33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331720"/>
            <a:ext cx="685800" cy="685800"/>
          </a:xfrm>
          <a:prstGeom prst="ellipse">
            <a:avLst/>
          </a:prstGeom>
          <a:solidFill>
            <a:srgbClr val="1B7A72"/>
          </a:solidFill>
          <a:ln/>
        </p:spPr>
      </p:sp>
      <p:pic>
        <p:nvPicPr>
          <p:cNvPr id="6" name="Image 0" descr="icons/clock_F4F8F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274" y="2420874"/>
            <a:ext cx="507492" cy="50749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320040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2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Detection lags reality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60120" y="3611880"/>
            <a:ext cx="2788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5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discharge, runoff, and sewage leaks often go unnoticed for hours or days before anyone checks the water.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89120" y="1965960"/>
            <a:ext cx="342900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B2B33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09160" y="2331720"/>
            <a:ext cx="685800" cy="685800"/>
          </a:xfrm>
          <a:prstGeom prst="ellipse">
            <a:avLst/>
          </a:prstGeom>
          <a:solidFill>
            <a:srgbClr val="1B7A72"/>
          </a:solidFill>
          <a:ln/>
        </p:spPr>
      </p:sp>
      <p:pic>
        <p:nvPicPr>
          <p:cNvPr id="11" name="Image 1" descr="icons/users_F4F8F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8314" y="2420874"/>
            <a:ext cx="507492" cy="50749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09160" y="320040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2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is manual &amp; rare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709160" y="3611880"/>
            <a:ext cx="2788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5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sampling needs trained staff and equipment, so most sites are only checked weekly — or less.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138160" y="1965960"/>
            <a:ext cx="342900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B2B33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58200" y="2331720"/>
            <a:ext cx="685800" cy="685800"/>
          </a:xfrm>
          <a:prstGeom prst="ellipse">
            <a:avLst/>
          </a:prstGeom>
          <a:solidFill>
            <a:srgbClr val="1B7A72"/>
          </a:solidFill>
          <a:ln/>
        </p:spPr>
      </p:sp>
      <p:pic>
        <p:nvPicPr>
          <p:cNvPr id="16" name="Image 2" descr="icons/alert_F4F8F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7354" y="2420874"/>
            <a:ext cx="507492" cy="50749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58200" y="320040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2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Response is reactive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458200" y="3611880"/>
            <a:ext cx="2788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5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Agencies typically hear about a problem only after fish kills, odor complaints, or visible damage appear.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640080" y="5623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alternatives: manual lab sampling  ·  static IoT dashboards nobody watches live  ·  waiting for public complaints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5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AQUAGUARD AI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22F145-EB97-76F5-0A16-D92EFD4DD9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1FD4959-7EEB-E239-716B-3B55F4EA6FA7}"/>
              </a:ext>
            </a:extLst>
          </p:cNvPr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9E23F4D-51E3-B00E-0DE4-6D786BB0B444}"/>
              </a:ext>
            </a:extLst>
          </p:cNvPr>
          <p:cNvSpPr/>
          <p:nvPr/>
        </p:nvSpPr>
        <p:spPr>
          <a:xfrm>
            <a:off x="640080" y="77724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500" b="1" dirty="0">
                <a:solidFill>
                  <a:srgbClr val="0A2E3D"/>
                </a:solidFill>
                <a:latin typeface="Cambria" pitchFamily="34" charset="0"/>
                <a:ea typeface="Cambria" pitchFamily="34" charset="-122"/>
              </a:rPr>
              <a:t>Impact on Aquatic Life</a:t>
            </a:r>
            <a:endParaRPr lang="en-US" sz="25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A66195F-C84D-4882-0BB4-3C6FC548FA65}"/>
              </a:ext>
            </a:extLst>
          </p:cNvPr>
          <p:cNvSpPr/>
          <p:nvPr/>
        </p:nvSpPr>
        <p:spPr>
          <a:xfrm>
            <a:off x="3172967" y="2350008"/>
            <a:ext cx="4894127" cy="0"/>
          </a:xfrm>
          <a:prstGeom prst="line">
            <a:avLst/>
          </a:prstGeom>
          <a:noFill/>
          <a:ln w="19050">
            <a:solidFill>
              <a:srgbClr val="1B7A72"/>
            </a:solidFill>
            <a:prstDash val="dash"/>
          </a:ln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11E75EDD-995A-A43A-EC75-DBB8BC5F6B91}"/>
              </a:ext>
            </a:extLst>
          </p:cNvPr>
          <p:cNvSpPr/>
          <p:nvPr/>
        </p:nvSpPr>
        <p:spPr>
          <a:xfrm>
            <a:off x="640080" y="1965960"/>
            <a:ext cx="2514600" cy="324612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B2B33">
                <a:alpha val="15000"/>
              </a:srgbClr>
            </a:outerShdw>
          </a:effectLst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03FCCFDE-7259-4C3E-329B-6740E393D64D}"/>
              </a:ext>
            </a:extLst>
          </p:cNvPr>
          <p:cNvSpPr/>
          <p:nvPr/>
        </p:nvSpPr>
        <p:spPr>
          <a:xfrm>
            <a:off x="868680" y="2221992"/>
            <a:ext cx="777240" cy="365760"/>
          </a:xfrm>
          <a:prstGeom prst="roundRect">
            <a:avLst>
              <a:gd name="adj" fmla="val 50000"/>
            </a:avLst>
          </a:prstGeom>
          <a:solidFill>
            <a:srgbClr val="1B7A72"/>
          </a:solidFill>
          <a:ln/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00BB3B30-E5AE-AC0A-A54D-3A6F103F83EB}"/>
              </a:ext>
            </a:extLst>
          </p:cNvPr>
          <p:cNvSpPr/>
          <p:nvPr/>
        </p:nvSpPr>
        <p:spPr>
          <a:xfrm>
            <a:off x="868680" y="2221992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4F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05D47997-0CB0-A912-A6A8-349318EA9BE9}"/>
              </a:ext>
            </a:extLst>
          </p:cNvPr>
          <p:cNvSpPr/>
          <p:nvPr/>
        </p:nvSpPr>
        <p:spPr>
          <a:xfrm>
            <a:off x="868680" y="283464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7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9BD8F7B1-EBB3-7D40-58AA-96126ABE71B1}"/>
              </a:ext>
            </a:extLst>
          </p:cNvPr>
          <p:cNvSpPr/>
          <p:nvPr/>
        </p:nvSpPr>
        <p:spPr>
          <a:xfrm>
            <a:off x="868680" y="3337560"/>
            <a:ext cx="20574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1500"/>
              </a:lnSpc>
            </a:pPr>
            <a:r>
              <a:rPr lang="en-IN" sz="1200" dirty="0">
                <a:solidFill>
                  <a:schemeClr val="bg2">
                    <a:lumMod val="50000"/>
                  </a:schemeClr>
                </a:solidFill>
              </a:rPr>
              <a:t>Undetected organic spikes plunge dissolved oxygen below critical </a:t>
            </a:r>
            <a:r>
              <a:rPr lang="en-IN" sz="1200" dirty="0">
                <a:solidFill>
                  <a:schemeClr val="accent3">
                    <a:lumMod val="50000"/>
                  </a:schemeClr>
                </a:solidFill>
              </a:rPr>
              <a:t>thresholds</a:t>
            </a:r>
            <a:r>
              <a:rPr lang="en-IN" sz="1200" dirty="0">
                <a:solidFill>
                  <a:schemeClr val="bg2">
                    <a:lumMod val="50000"/>
                  </a:schemeClr>
                </a:solidFill>
              </a:rPr>
              <a:t> (&lt; 4 mg/L). Fish suffer acute gill stress, triggering mass suffocation events within hours.</a:t>
            </a:r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88793633-B895-420D-947B-D164FB8FDC50}"/>
              </a:ext>
            </a:extLst>
          </p:cNvPr>
          <p:cNvSpPr/>
          <p:nvPr/>
        </p:nvSpPr>
        <p:spPr>
          <a:xfrm>
            <a:off x="5943600" y="2350008"/>
            <a:ext cx="219456" cy="0"/>
          </a:xfrm>
          <a:prstGeom prst="line">
            <a:avLst/>
          </a:prstGeom>
          <a:noFill/>
          <a:ln w="19050">
            <a:solidFill>
              <a:srgbClr val="1B7A72"/>
            </a:solidFill>
            <a:prstDash val="dash"/>
          </a:ln>
        </p:spPr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6388B472-6C44-ACB6-0214-73D480059DB6}"/>
              </a:ext>
            </a:extLst>
          </p:cNvPr>
          <p:cNvSpPr/>
          <p:nvPr/>
        </p:nvSpPr>
        <p:spPr>
          <a:xfrm>
            <a:off x="4397221" y="1943101"/>
            <a:ext cx="2514600" cy="324612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B2B33">
                <a:alpha val="15000"/>
              </a:srgbClr>
            </a:outerShdw>
          </a:effectLst>
        </p:spPr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F3FB2152-0F6B-4A3D-2730-A2C103A99A4F}"/>
              </a:ext>
            </a:extLst>
          </p:cNvPr>
          <p:cNvSpPr/>
          <p:nvPr/>
        </p:nvSpPr>
        <p:spPr>
          <a:xfrm>
            <a:off x="4759452" y="2162556"/>
            <a:ext cx="777240" cy="365760"/>
          </a:xfrm>
          <a:prstGeom prst="roundRect">
            <a:avLst>
              <a:gd name="adj" fmla="val 50000"/>
            </a:avLst>
          </a:prstGeom>
          <a:solidFill>
            <a:srgbClr val="1B7A72"/>
          </a:solidFill>
          <a:ln/>
        </p:spPr>
        <p:txBody>
          <a:bodyPr/>
          <a:lstStyle/>
          <a:p>
            <a:pPr algn="ctr"/>
            <a:r>
              <a:rPr lang="en-IN" sz="1100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E9291F42-86C1-7550-AEBE-1D1838771473}"/>
              </a:ext>
            </a:extLst>
          </p:cNvPr>
          <p:cNvSpPr/>
          <p:nvPr/>
        </p:nvSpPr>
        <p:spPr>
          <a:xfrm>
            <a:off x="3639312" y="2221992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4F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1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EC74D189-A0EA-EEB3-4DE2-644DF1440567}"/>
              </a:ext>
            </a:extLst>
          </p:cNvPr>
          <p:cNvSpPr/>
          <p:nvPr/>
        </p:nvSpPr>
        <p:spPr>
          <a:xfrm>
            <a:off x="4656782" y="2720337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2E3D"/>
                </a:solidFill>
                <a:latin typeface="Cambria" pitchFamily="34" charset="0"/>
                <a:ea typeface="Cambria" pitchFamily="34" charset="-122"/>
              </a:rPr>
              <a:t>Gill Clogging</a:t>
            </a:r>
            <a:endParaRPr lang="en-US" sz="17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B3532CC5-4D4D-528C-B568-FA831D95B0EF}"/>
              </a:ext>
            </a:extLst>
          </p:cNvPr>
          <p:cNvSpPr/>
          <p:nvPr/>
        </p:nvSpPr>
        <p:spPr>
          <a:xfrm>
            <a:off x="4656782" y="3177537"/>
            <a:ext cx="20574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1500"/>
              </a:lnSpc>
            </a:pPr>
            <a:r>
              <a:rPr lang="en-IN" sz="1200" dirty="0">
                <a:solidFill>
                  <a:schemeClr val="accent3">
                    <a:lumMod val="50000"/>
                  </a:schemeClr>
                </a:solidFill>
              </a:rPr>
              <a:t>Runoff and waste elevate turbidity past 50 NTU. Suspended sediment physically scrapes respiratory membranes and blocks essential sunlight for underwater plants.</a:t>
            </a:r>
            <a:r>
              <a:rPr lang="en-US" sz="1150" dirty="0">
                <a:solidFill>
                  <a:schemeClr val="accent3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6D4718E1-0334-E9C6-FC24-A650C31BBA38}"/>
              </a:ext>
            </a:extLst>
          </p:cNvPr>
          <p:cNvSpPr/>
          <p:nvPr/>
        </p:nvSpPr>
        <p:spPr>
          <a:xfrm>
            <a:off x="8714232" y="2350008"/>
            <a:ext cx="219456" cy="0"/>
          </a:xfrm>
          <a:prstGeom prst="line">
            <a:avLst/>
          </a:prstGeom>
          <a:noFill/>
          <a:ln w="19050">
            <a:solidFill>
              <a:srgbClr val="1B7A72"/>
            </a:solidFill>
            <a:prstDash val="dash"/>
          </a:ln>
        </p:spPr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8065F22C-0C7D-99E3-7CB3-EDE4FE6ADC10}"/>
              </a:ext>
            </a:extLst>
          </p:cNvPr>
          <p:cNvSpPr/>
          <p:nvPr/>
        </p:nvSpPr>
        <p:spPr>
          <a:xfrm>
            <a:off x="8090354" y="1965960"/>
            <a:ext cx="2514600" cy="324612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B2B33">
                <a:alpha val="15000"/>
              </a:srgbClr>
            </a:outerShdw>
          </a:effectLst>
        </p:spPr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11CBAC7D-2930-EF19-8B4A-93A670724BF8}"/>
              </a:ext>
            </a:extLst>
          </p:cNvPr>
          <p:cNvSpPr/>
          <p:nvPr/>
        </p:nvSpPr>
        <p:spPr>
          <a:xfrm>
            <a:off x="8325612" y="2221992"/>
            <a:ext cx="777240" cy="365760"/>
          </a:xfrm>
          <a:prstGeom prst="roundRect">
            <a:avLst>
              <a:gd name="adj" fmla="val 50000"/>
            </a:avLst>
          </a:prstGeom>
          <a:solidFill>
            <a:srgbClr val="1B7A72"/>
          </a:solidFill>
          <a:ln/>
        </p:spPr>
        <p:txBody>
          <a:bodyPr/>
          <a:lstStyle/>
          <a:p>
            <a:pPr algn="ctr"/>
            <a:r>
              <a:rPr lang="en-IN" sz="1100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F2962F60-BF71-E39C-589C-659C340B9F1B}"/>
              </a:ext>
            </a:extLst>
          </p:cNvPr>
          <p:cNvSpPr/>
          <p:nvPr/>
        </p:nvSpPr>
        <p:spPr>
          <a:xfrm>
            <a:off x="6409944" y="2221992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4F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1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3A035EA8-D1BE-E3B7-51CD-F68694E6F064}"/>
              </a:ext>
            </a:extLst>
          </p:cNvPr>
          <p:cNvSpPr/>
          <p:nvPr/>
        </p:nvSpPr>
        <p:spPr>
          <a:xfrm>
            <a:off x="8318954" y="2797743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2E3D"/>
                </a:solidFill>
                <a:latin typeface="Cambria" pitchFamily="34" charset="0"/>
                <a:ea typeface="Cambria" pitchFamily="34" charset="-122"/>
              </a:rPr>
              <a:t>Acidification &amp; </a:t>
            </a:r>
            <a:r>
              <a:rPr lang="en-US" sz="1700" b="1" dirty="0" err="1">
                <a:solidFill>
                  <a:srgbClr val="0A2E3D"/>
                </a:solidFill>
                <a:latin typeface="Cambria" pitchFamily="34" charset="0"/>
                <a:ea typeface="Cambria" pitchFamily="34" charset="-122"/>
              </a:rPr>
              <a:t>ph</a:t>
            </a:r>
            <a:endParaRPr lang="en-US" sz="17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CBC0BDC2-A1D9-9811-4345-C53BD44C5E15}"/>
              </a:ext>
            </a:extLst>
          </p:cNvPr>
          <p:cNvSpPr/>
          <p:nvPr/>
        </p:nvSpPr>
        <p:spPr>
          <a:xfrm>
            <a:off x="8318954" y="3322320"/>
            <a:ext cx="20574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1500"/>
              </a:lnSpc>
            </a:pPr>
            <a:r>
              <a:rPr lang="en-IN" sz="1200" dirty="0">
                <a:solidFill>
                  <a:schemeClr val="accent3">
                    <a:lumMod val="50000"/>
                  </a:schemeClr>
                </a:solidFill>
              </a:rPr>
              <a:t>Chemical dumps create rapid pH shifts. Severe drops below 5.5 strip protective mucus coatings from fish skins, destroy egg clusters, and dissolve </a:t>
            </a:r>
            <a:r>
              <a:rPr lang="en-IN" sz="1200" dirty="0" err="1">
                <a:solidFill>
                  <a:schemeClr val="accent3">
                    <a:lumMod val="50000"/>
                  </a:schemeClr>
                </a:solidFill>
              </a:rPr>
              <a:t>mollusk</a:t>
            </a:r>
            <a:r>
              <a:rPr lang="en-IN" sz="1200" dirty="0">
                <a:solidFill>
                  <a:schemeClr val="accent3">
                    <a:lumMod val="50000"/>
                  </a:schemeClr>
                </a:solidFill>
              </a:rPr>
              <a:t> shells.</a:t>
            </a:r>
            <a:endParaRPr lang="en-US" sz="115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4C7271FB-92DF-DB38-243C-33DD3453006A}"/>
              </a:ext>
            </a:extLst>
          </p:cNvPr>
          <p:cNvSpPr/>
          <p:nvPr/>
        </p:nvSpPr>
        <p:spPr>
          <a:xfrm>
            <a:off x="9180576" y="2221992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4F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10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E1922879-72A2-56A6-A3EF-6170CC4BE239}"/>
              </a:ext>
            </a:extLst>
          </p:cNvPr>
          <p:cNvSpPr/>
          <p:nvPr/>
        </p:nvSpPr>
        <p:spPr>
          <a:xfrm>
            <a:off x="9180576" y="283464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70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A198F0F6-BDCB-0578-8AA1-1E0D24690CCD}"/>
              </a:ext>
            </a:extLst>
          </p:cNvPr>
          <p:cNvSpPr/>
          <p:nvPr/>
        </p:nvSpPr>
        <p:spPr>
          <a:xfrm>
            <a:off x="9180576" y="3337560"/>
            <a:ext cx="20574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endParaRPr lang="en-US" sz="115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67E9E06A-8296-22C8-5CD0-B30A15C59F31}"/>
              </a:ext>
            </a:extLst>
          </p:cNvPr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5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AQUAGUARD AI</a:t>
            </a:r>
            <a:endParaRPr lang="en-US" sz="900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569D8181-9F00-3095-6A21-C424A649F396}"/>
              </a:ext>
            </a:extLst>
          </p:cNvPr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B187520-A196-4848-9025-A02A15CDFB55}"/>
              </a:ext>
            </a:extLst>
          </p:cNvPr>
          <p:cNvSpPr txBox="1"/>
          <p:nvPr/>
        </p:nvSpPr>
        <p:spPr>
          <a:xfrm>
            <a:off x="850393" y="2808010"/>
            <a:ext cx="2057400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700" b="1" dirty="0">
                <a:latin typeface="Cambria" panose="02040503050406030204" pitchFamily="18" charset="0"/>
                <a:ea typeface="Cambria" panose="02040503050406030204" pitchFamily="18" charset="0"/>
              </a:rPr>
              <a:t>Oxygen Starvation</a:t>
            </a:r>
          </a:p>
        </p:txBody>
      </p:sp>
    </p:spTree>
    <p:extLst>
      <p:ext uri="{BB962C8B-B14F-4D97-AF65-F5344CB8AC3E}">
        <p14:creationId xmlns:p14="http://schemas.microsoft.com/office/powerpoint/2010/main" val="8722929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E3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665671-7CEA-A9F5-219D-FA19BD9921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2B715F0-972A-5E14-5AED-3CB77FADB0B9}"/>
              </a:ext>
            </a:extLst>
          </p:cNvPr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A8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CONSEQUENCES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90FC909-30FB-8F49-4F93-C7ECE256D9A5}"/>
              </a:ext>
            </a:extLst>
          </p:cNvPr>
          <p:cNvSpPr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4F8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of delay could be catastrophic.</a:t>
            </a:r>
            <a:endParaRPr lang="en-US" sz="27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5B19BA0-8C00-0BDE-5CA0-68A373B44C7E}"/>
              </a:ext>
            </a:extLst>
          </p:cNvPr>
          <p:cNvSpPr/>
          <p:nvPr/>
        </p:nvSpPr>
        <p:spPr>
          <a:xfrm>
            <a:off x="3172968" y="2651760"/>
            <a:ext cx="219456" cy="0"/>
          </a:xfrm>
          <a:prstGeom prst="line">
            <a:avLst/>
          </a:prstGeom>
          <a:noFill/>
          <a:ln w="19050">
            <a:solidFill>
              <a:srgbClr val="2EA89D"/>
            </a:solidFill>
            <a:prstDash val="dash"/>
          </a:ln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1E3053D7-8DE4-32D6-5BF4-D1E37ED01670}"/>
              </a:ext>
            </a:extLst>
          </p:cNvPr>
          <p:cNvSpPr/>
          <p:nvPr/>
        </p:nvSpPr>
        <p:spPr>
          <a:xfrm>
            <a:off x="640080" y="2148839"/>
            <a:ext cx="2514600" cy="3120981"/>
          </a:xfrm>
          <a:prstGeom prst="roundRect">
            <a:avLst>
              <a:gd name="adj" fmla="val 2909"/>
            </a:avLst>
          </a:prstGeom>
          <a:solidFill>
            <a:srgbClr val="0F3A4B"/>
          </a:solidFill>
          <a:ln/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1F3E31F4-6E84-AA3F-2FD5-39EEEB2E185D}"/>
              </a:ext>
            </a:extLst>
          </p:cNvPr>
          <p:cNvSpPr/>
          <p:nvPr/>
        </p:nvSpPr>
        <p:spPr>
          <a:xfrm>
            <a:off x="1485900" y="2468880"/>
            <a:ext cx="822960" cy="822960"/>
          </a:xfrm>
          <a:prstGeom prst="ellipse">
            <a:avLst/>
          </a:prstGeom>
          <a:solidFill>
            <a:srgbClr val="2EA89D"/>
          </a:solidFill>
          <a:ln/>
        </p:spPr>
      </p:sp>
      <p:pic>
        <p:nvPicPr>
          <p:cNvPr id="7" name="Image 0" descr="icons/clock_0A2E3D.png">
            <a:extLst>
              <a:ext uri="{FF2B5EF4-FFF2-40B4-BE49-F238E27FC236}">
                <a16:creationId xmlns:a16="http://schemas.microsoft.com/office/drawing/2014/main" id="{6FAF99CF-68C7-A89B-3C1C-B5E581A2BF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2885" y="2575865"/>
            <a:ext cx="608990" cy="608990"/>
          </a:xfrm>
          <a:prstGeom prst="rect">
            <a:avLst/>
          </a:prstGeom>
        </p:spPr>
      </p:pic>
      <p:sp>
        <p:nvSpPr>
          <p:cNvPr id="8" name="Text 5">
            <a:extLst>
              <a:ext uri="{FF2B5EF4-FFF2-40B4-BE49-F238E27FC236}">
                <a16:creationId xmlns:a16="http://schemas.microsoft.com/office/drawing/2014/main" id="{48C0A41A-766B-08C3-4E32-E92F65A7888A}"/>
              </a:ext>
            </a:extLst>
          </p:cNvPr>
          <p:cNvSpPr/>
          <p:nvPr/>
        </p:nvSpPr>
        <p:spPr>
          <a:xfrm>
            <a:off x="822960" y="2313432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F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B3B1A926-BD01-F8EA-6010-58B5AB654603}"/>
              </a:ext>
            </a:extLst>
          </p:cNvPr>
          <p:cNvSpPr/>
          <p:nvPr/>
        </p:nvSpPr>
        <p:spPr>
          <a:xfrm>
            <a:off x="868680" y="347472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4F8F7"/>
                </a:solidFill>
                <a:latin typeface="Cambria" pitchFamily="34" charset="0"/>
                <a:ea typeface="Cambria" pitchFamily="34" charset="-122"/>
              </a:rPr>
              <a:t>Hour 0-4</a:t>
            </a:r>
            <a:endParaRPr lang="en-US" sz="155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AE96A9DC-A41B-4208-6756-0C4A56AD1773}"/>
              </a:ext>
            </a:extLst>
          </p:cNvPr>
          <p:cNvSpPr/>
          <p:nvPr/>
        </p:nvSpPr>
        <p:spPr>
          <a:xfrm>
            <a:off x="868680" y="3977640"/>
            <a:ext cx="2057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1500"/>
              </a:lnSpc>
            </a:pPr>
            <a:r>
              <a:rPr lang="en-IN" sz="1100" b="1" dirty="0">
                <a:solidFill>
                  <a:schemeClr val="bg1"/>
                </a:solidFill>
              </a:rPr>
              <a:t>Silent Dispersion </a:t>
            </a:r>
          </a:p>
          <a:p>
            <a:pPr>
              <a:lnSpc>
                <a:spcPts val="1500"/>
              </a:lnSpc>
            </a:pPr>
            <a:r>
              <a:rPr lang="en-IN" sz="11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Toxins disperse rapidly downstream. Plume expands without visual signs. Alerts remain silent.</a:t>
            </a:r>
            <a:endParaRPr lang="en-US" sz="1100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5FCD2662-B32B-0F9A-0BF8-4E48D418555D}"/>
              </a:ext>
            </a:extLst>
          </p:cNvPr>
          <p:cNvSpPr/>
          <p:nvPr/>
        </p:nvSpPr>
        <p:spPr>
          <a:xfrm>
            <a:off x="5943600" y="2651760"/>
            <a:ext cx="219456" cy="0"/>
          </a:xfrm>
          <a:prstGeom prst="line">
            <a:avLst/>
          </a:prstGeom>
          <a:noFill/>
          <a:ln w="19050">
            <a:solidFill>
              <a:srgbClr val="2EA89D"/>
            </a:solidFill>
            <a:prstDash val="dash"/>
          </a:ln>
        </p:spPr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B0B3BCB9-911B-58A5-E72F-9627F29AA3B6}"/>
              </a:ext>
            </a:extLst>
          </p:cNvPr>
          <p:cNvSpPr/>
          <p:nvPr/>
        </p:nvSpPr>
        <p:spPr>
          <a:xfrm>
            <a:off x="3410712" y="2148839"/>
            <a:ext cx="2514600" cy="3120989"/>
          </a:xfrm>
          <a:prstGeom prst="roundRect">
            <a:avLst>
              <a:gd name="adj" fmla="val 2909"/>
            </a:avLst>
          </a:prstGeom>
          <a:solidFill>
            <a:srgbClr val="0F3A4B"/>
          </a:solidFill>
          <a:ln/>
        </p:spPr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25DAD67A-6661-8205-C153-382315D92AEB}"/>
              </a:ext>
            </a:extLst>
          </p:cNvPr>
          <p:cNvSpPr/>
          <p:nvPr/>
        </p:nvSpPr>
        <p:spPr>
          <a:xfrm>
            <a:off x="4256532" y="2468880"/>
            <a:ext cx="822960" cy="822960"/>
          </a:xfrm>
          <a:prstGeom prst="ellipse">
            <a:avLst/>
          </a:prstGeom>
          <a:solidFill>
            <a:srgbClr val="2EA89D"/>
          </a:solidFill>
          <a:ln/>
        </p:spPr>
      </p:sp>
      <p:pic>
        <p:nvPicPr>
          <p:cNvPr id="14" name="Image 1" descr="icons/activity_0A2E3D.png">
            <a:extLst>
              <a:ext uri="{FF2B5EF4-FFF2-40B4-BE49-F238E27FC236}">
                <a16:creationId xmlns:a16="http://schemas.microsoft.com/office/drawing/2014/main" id="{E29A5885-751B-1CF5-143E-945FD687CF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3517" y="2575865"/>
            <a:ext cx="608990" cy="608990"/>
          </a:xfrm>
          <a:prstGeom prst="rect">
            <a:avLst/>
          </a:prstGeom>
        </p:spPr>
      </p:pic>
      <p:sp>
        <p:nvSpPr>
          <p:cNvPr id="15" name="Text 11">
            <a:extLst>
              <a:ext uri="{FF2B5EF4-FFF2-40B4-BE49-F238E27FC236}">
                <a16:creationId xmlns:a16="http://schemas.microsoft.com/office/drawing/2014/main" id="{A87A2C4C-DCDB-EF63-F7E0-AA53EEDAD91C}"/>
              </a:ext>
            </a:extLst>
          </p:cNvPr>
          <p:cNvSpPr/>
          <p:nvPr/>
        </p:nvSpPr>
        <p:spPr>
          <a:xfrm>
            <a:off x="3593592" y="2313432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F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1A7D9A4C-6141-F386-80FF-6526918424C9}"/>
              </a:ext>
            </a:extLst>
          </p:cNvPr>
          <p:cNvSpPr/>
          <p:nvPr/>
        </p:nvSpPr>
        <p:spPr>
          <a:xfrm>
            <a:off x="3639312" y="347472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4F8F7"/>
                </a:solidFill>
                <a:latin typeface="Cambria" pitchFamily="34" charset="0"/>
                <a:ea typeface="Cambria" pitchFamily="34" charset="-122"/>
              </a:rPr>
              <a:t>Hour 4-12</a:t>
            </a:r>
            <a:endParaRPr lang="en-US" sz="1550" dirty="0"/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77C4C5B8-2D79-2BFD-FBEA-9EB2AA3BA725}"/>
              </a:ext>
            </a:extLst>
          </p:cNvPr>
          <p:cNvSpPr/>
          <p:nvPr/>
        </p:nvSpPr>
        <p:spPr>
          <a:xfrm>
            <a:off x="3639312" y="3977640"/>
            <a:ext cx="2057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1500"/>
              </a:lnSpc>
            </a:pPr>
            <a:r>
              <a:rPr lang="en-IN" sz="1100" b="1" dirty="0">
                <a:solidFill>
                  <a:schemeClr val="bg1"/>
                </a:solidFill>
              </a:rPr>
              <a:t>Acute Stress </a:t>
            </a:r>
          </a:p>
          <a:p>
            <a:pPr>
              <a:lnSpc>
                <a:spcPts val="1500"/>
              </a:lnSpc>
            </a:pPr>
            <a:r>
              <a:rPr lang="en-IN" sz="11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Sensitive benthic organisms die off. Fish suffer elevated respiratory rates and gill tissue damage</a:t>
            </a:r>
            <a:r>
              <a:rPr lang="en-IN" sz="1100" dirty="0"/>
              <a:t>.</a:t>
            </a:r>
            <a:endParaRPr lang="en-US" sz="1100" dirty="0"/>
          </a:p>
        </p:txBody>
      </p:sp>
      <p:sp>
        <p:nvSpPr>
          <p:cNvPr id="18" name="Shape 14">
            <a:extLst>
              <a:ext uri="{FF2B5EF4-FFF2-40B4-BE49-F238E27FC236}">
                <a16:creationId xmlns:a16="http://schemas.microsoft.com/office/drawing/2014/main" id="{6E05EAA9-0102-C2C8-062A-E8DA5E6B8121}"/>
              </a:ext>
            </a:extLst>
          </p:cNvPr>
          <p:cNvSpPr/>
          <p:nvPr/>
        </p:nvSpPr>
        <p:spPr>
          <a:xfrm>
            <a:off x="8714232" y="2651760"/>
            <a:ext cx="219456" cy="0"/>
          </a:xfrm>
          <a:prstGeom prst="line">
            <a:avLst/>
          </a:prstGeom>
          <a:noFill/>
          <a:ln w="19050">
            <a:solidFill>
              <a:srgbClr val="2EA89D"/>
            </a:solidFill>
            <a:prstDash val="dash"/>
          </a:ln>
        </p:spPr>
      </p:sp>
      <p:sp>
        <p:nvSpPr>
          <p:cNvPr id="19" name="Shape 15">
            <a:extLst>
              <a:ext uri="{FF2B5EF4-FFF2-40B4-BE49-F238E27FC236}">
                <a16:creationId xmlns:a16="http://schemas.microsoft.com/office/drawing/2014/main" id="{46FDC4B1-CD56-F1CE-F101-75FB48EA9838}"/>
              </a:ext>
            </a:extLst>
          </p:cNvPr>
          <p:cNvSpPr/>
          <p:nvPr/>
        </p:nvSpPr>
        <p:spPr>
          <a:xfrm>
            <a:off x="6181344" y="2148839"/>
            <a:ext cx="2514600" cy="3120985"/>
          </a:xfrm>
          <a:prstGeom prst="roundRect">
            <a:avLst>
              <a:gd name="adj" fmla="val 2909"/>
            </a:avLst>
          </a:prstGeom>
          <a:solidFill>
            <a:srgbClr val="0F3A4B"/>
          </a:solidFill>
          <a:ln/>
        </p:spPr>
      </p:sp>
      <p:sp>
        <p:nvSpPr>
          <p:cNvPr id="20" name="Shape 16">
            <a:extLst>
              <a:ext uri="{FF2B5EF4-FFF2-40B4-BE49-F238E27FC236}">
                <a16:creationId xmlns:a16="http://schemas.microsoft.com/office/drawing/2014/main" id="{DA8705C8-F170-E646-EEF6-4612EE38F3F1}"/>
              </a:ext>
            </a:extLst>
          </p:cNvPr>
          <p:cNvSpPr/>
          <p:nvPr/>
        </p:nvSpPr>
        <p:spPr>
          <a:xfrm>
            <a:off x="7027164" y="2468880"/>
            <a:ext cx="822960" cy="822960"/>
          </a:xfrm>
          <a:prstGeom prst="ellipse">
            <a:avLst/>
          </a:prstGeom>
          <a:solidFill>
            <a:srgbClr val="2EA89D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22" name="Text 17">
            <a:extLst>
              <a:ext uri="{FF2B5EF4-FFF2-40B4-BE49-F238E27FC236}">
                <a16:creationId xmlns:a16="http://schemas.microsoft.com/office/drawing/2014/main" id="{133F2902-9DBF-7813-2762-C6B6234DE35B}"/>
              </a:ext>
            </a:extLst>
          </p:cNvPr>
          <p:cNvSpPr/>
          <p:nvPr/>
        </p:nvSpPr>
        <p:spPr>
          <a:xfrm>
            <a:off x="6364224" y="2313432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F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3" name="Text 18">
            <a:extLst>
              <a:ext uri="{FF2B5EF4-FFF2-40B4-BE49-F238E27FC236}">
                <a16:creationId xmlns:a16="http://schemas.microsoft.com/office/drawing/2014/main" id="{1FFDA3D6-03F9-B20A-FBAD-C3A12F8826CC}"/>
              </a:ext>
            </a:extLst>
          </p:cNvPr>
          <p:cNvSpPr/>
          <p:nvPr/>
        </p:nvSpPr>
        <p:spPr>
          <a:xfrm>
            <a:off x="6409944" y="347472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4F8F7"/>
                </a:solidFill>
                <a:latin typeface="Cambria" pitchFamily="34" charset="0"/>
                <a:ea typeface="Cambria" pitchFamily="34" charset="-122"/>
              </a:rPr>
              <a:t>Hour 12-48</a:t>
            </a:r>
            <a:endParaRPr lang="en-US" sz="1550" dirty="0"/>
          </a:p>
        </p:txBody>
      </p:sp>
      <p:sp>
        <p:nvSpPr>
          <p:cNvPr id="24" name="Text 19">
            <a:extLst>
              <a:ext uri="{FF2B5EF4-FFF2-40B4-BE49-F238E27FC236}">
                <a16:creationId xmlns:a16="http://schemas.microsoft.com/office/drawing/2014/main" id="{3687D210-1690-BA21-877B-F9C2757AFB93}"/>
              </a:ext>
            </a:extLst>
          </p:cNvPr>
          <p:cNvSpPr/>
          <p:nvPr/>
        </p:nvSpPr>
        <p:spPr>
          <a:xfrm>
            <a:off x="6409944" y="3977640"/>
            <a:ext cx="2057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1500"/>
              </a:lnSpc>
            </a:pPr>
            <a:r>
              <a:rPr lang="en-IN" sz="1100" b="1" dirty="0">
                <a:solidFill>
                  <a:schemeClr val="bg1"/>
                </a:solidFill>
              </a:rPr>
              <a:t>Systemic Crash</a:t>
            </a:r>
          </a:p>
          <a:p>
            <a:pPr>
              <a:lnSpc>
                <a:spcPts val="1500"/>
              </a:lnSpc>
            </a:pPr>
            <a:r>
              <a:rPr lang="en-IN" sz="11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 Widespread fish mortality. Strong </a:t>
            </a:r>
            <a:r>
              <a:rPr lang="en-IN" sz="1100" dirty="0" err="1">
                <a:solidFill>
                  <a:schemeClr val="accent6">
                    <a:lumMod val="20000"/>
                    <a:lumOff val="80000"/>
                  </a:schemeClr>
                </a:solidFill>
              </a:rPr>
              <a:t>odors</a:t>
            </a:r>
            <a:r>
              <a:rPr lang="en-IN" sz="11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 trigger community reports. Water closures mandated.</a:t>
            </a:r>
            <a:endParaRPr lang="en-US" sz="1100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5" name="Shape 20">
            <a:extLst>
              <a:ext uri="{FF2B5EF4-FFF2-40B4-BE49-F238E27FC236}">
                <a16:creationId xmlns:a16="http://schemas.microsoft.com/office/drawing/2014/main" id="{E4974C34-B1DA-A6B7-1CF0-F1F5D9BB935B}"/>
              </a:ext>
            </a:extLst>
          </p:cNvPr>
          <p:cNvSpPr/>
          <p:nvPr/>
        </p:nvSpPr>
        <p:spPr>
          <a:xfrm>
            <a:off x="8951976" y="2148839"/>
            <a:ext cx="2514600" cy="3120983"/>
          </a:xfrm>
          <a:prstGeom prst="roundRect">
            <a:avLst>
              <a:gd name="adj" fmla="val 2909"/>
            </a:avLst>
          </a:prstGeom>
          <a:solidFill>
            <a:srgbClr val="0F3A4B"/>
          </a:solidFill>
          <a:ln/>
        </p:spPr>
      </p:sp>
      <p:sp>
        <p:nvSpPr>
          <p:cNvPr id="26" name="Shape 21">
            <a:extLst>
              <a:ext uri="{FF2B5EF4-FFF2-40B4-BE49-F238E27FC236}">
                <a16:creationId xmlns:a16="http://schemas.microsoft.com/office/drawing/2014/main" id="{586AF50C-B169-C5D5-63B8-9AC04C0A0E29}"/>
              </a:ext>
            </a:extLst>
          </p:cNvPr>
          <p:cNvSpPr/>
          <p:nvPr/>
        </p:nvSpPr>
        <p:spPr>
          <a:xfrm>
            <a:off x="9797796" y="2468880"/>
            <a:ext cx="822960" cy="822960"/>
          </a:xfrm>
          <a:prstGeom prst="ellipse">
            <a:avLst/>
          </a:prstGeom>
          <a:solidFill>
            <a:srgbClr val="2EA89D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28" name="Text 22">
            <a:extLst>
              <a:ext uri="{FF2B5EF4-FFF2-40B4-BE49-F238E27FC236}">
                <a16:creationId xmlns:a16="http://schemas.microsoft.com/office/drawing/2014/main" id="{8BC4F6C5-4F33-7687-CB36-8FB93DBCAD33}"/>
              </a:ext>
            </a:extLst>
          </p:cNvPr>
          <p:cNvSpPr/>
          <p:nvPr/>
        </p:nvSpPr>
        <p:spPr>
          <a:xfrm>
            <a:off x="9134856" y="2313432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F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9" name="Text 23">
            <a:extLst>
              <a:ext uri="{FF2B5EF4-FFF2-40B4-BE49-F238E27FC236}">
                <a16:creationId xmlns:a16="http://schemas.microsoft.com/office/drawing/2014/main" id="{7C847235-2DBF-AA2E-337B-76406E8F7888}"/>
              </a:ext>
            </a:extLst>
          </p:cNvPr>
          <p:cNvSpPr/>
          <p:nvPr/>
        </p:nvSpPr>
        <p:spPr>
          <a:xfrm>
            <a:off x="9180576" y="347472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4F8F7"/>
                </a:solidFill>
                <a:latin typeface="Cambria" pitchFamily="34" charset="0"/>
                <a:ea typeface="Cambria" pitchFamily="34" charset="-122"/>
              </a:rPr>
              <a:t>Day 3+</a:t>
            </a:r>
            <a:endParaRPr lang="en-US" sz="1550" dirty="0"/>
          </a:p>
        </p:txBody>
      </p:sp>
      <p:sp>
        <p:nvSpPr>
          <p:cNvPr id="30" name="Text 24">
            <a:extLst>
              <a:ext uri="{FF2B5EF4-FFF2-40B4-BE49-F238E27FC236}">
                <a16:creationId xmlns:a16="http://schemas.microsoft.com/office/drawing/2014/main" id="{66348BFA-E3C0-F022-17C7-E57E819D9D36}"/>
              </a:ext>
            </a:extLst>
          </p:cNvPr>
          <p:cNvSpPr/>
          <p:nvPr/>
        </p:nvSpPr>
        <p:spPr>
          <a:xfrm>
            <a:off x="9180576" y="3977640"/>
            <a:ext cx="2057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1500"/>
              </a:lnSpc>
            </a:pPr>
            <a:r>
              <a:rPr lang="en-IN" sz="1100" b="1" dirty="0">
                <a:solidFill>
                  <a:schemeClr val="bg1"/>
                </a:solidFill>
              </a:rPr>
              <a:t>Heavy Liabilities </a:t>
            </a:r>
          </a:p>
          <a:p>
            <a:pPr>
              <a:lnSpc>
                <a:spcPts val="1500"/>
              </a:lnSpc>
            </a:pPr>
            <a:r>
              <a:rPr lang="en-IN" sz="11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Toxins settle in riverbeds. Cleanup costs reach millions. Heavy fines and lawsuits are initiated.</a:t>
            </a:r>
            <a:endParaRPr lang="en-US" sz="1100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31" name="Text 25">
            <a:extLst>
              <a:ext uri="{FF2B5EF4-FFF2-40B4-BE49-F238E27FC236}">
                <a16:creationId xmlns:a16="http://schemas.microsoft.com/office/drawing/2014/main" id="{EEDB8CDD-796B-2388-83A1-C88BA0263784}"/>
              </a:ext>
            </a:extLst>
          </p:cNvPr>
          <p:cNvSpPr/>
          <p:nvPr/>
        </p:nvSpPr>
        <p:spPr>
          <a:xfrm>
            <a:off x="592018" y="1361574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400" dirty="0"/>
              <a:t> </a:t>
            </a:r>
            <a:r>
              <a:rPr lang="en-IN" sz="14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The exponential growth of ecological damage and financial liabilities over time.</a:t>
            </a:r>
            <a:r>
              <a:rPr lang="en-IN" sz="1400" dirty="0"/>
              <a:t>.</a:t>
            </a:r>
            <a:endParaRPr lang="en-US" sz="1300" dirty="0"/>
          </a:p>
        </p:txBody>
      </p:sp>
      <p:sp>
        <p:nvSpPr>
          <p:cNvPr id="32" name="Text 26">
            <a:extLst>
              <a:ext uri="{FF2B5EF4-FFF2-40B4-BE49-F238E27FC236}">
                <a16:creationId xmlns:a16="http://schemas.microsoft.com/office/drawing/2014/main" id="{87DF9754-34F2-0BD9-07C3-15639890E38A}"/>
              </a:ext>
            </a:extLst>
          </p:cNvPr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9F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AQUAGUARD AI</a:t>
            </a:r>
            <a:endParaRPr lang="en-US" sz="900" dirty="0"/>
          </a:p>
        </p:txBody>
      </p:sp>
      <p:sp>
        <p:nvSpPr>
          <p:cNvPr id="33" name="Text 27">
            <a:extLst>
              <a:ext uri="{FF2B5EF4-FFF2-40B4-BE49-F238E27FC236}">
                <a16:creationId xmlns:a16="http://schemas.microsoft.com/office/drawing/2014/main" id="{12C0EA31-0462-A5B2-B2C0-4D88BE126518}"/>
              </a:ext>
            </a:extLst>
          </p:cNvPr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pic>
        <p:nvPicPr>
          <p:cNvPr id="36" name="Image 1" descr="icons/activity_0A2E3D.png">
            <a:extLst>
              <a:ext uri="{FF2B5EF4-FFF2-40B4-BE49-F238E27FC236}">
                <a16:creationId xmlns:a16="http://schemas.microsoft.com/office/drawing/2014/main" id="{66B6F95C-CB9C-AD45-A18F-DD25E5AEFA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9694" y="2575865"/>
            <a:ext cx="608990" cy="608990"/>
          </a:xfrm>
          <a:prstGeom prst="rect">
            <a:avLst/>
          </a:prstGeom>
        </p:spPr>
      </p:pic>
      <p:pic>
        <p:nvPicPr>
          <p:cNvPr id="40" name="Image 1" descr="icons/chart_F4F8F7.png">
            <a:extLst>
              <a:ext uri="{FF2B5EF4-FFF2-40B4-BE49-F238E27FC236}">
                <a16:creationId xmlns:a16="http://schemas.microsoft.com/office/drawing/2014/main" id="{2D9F69E4-EEC1-69BE-8081-2E9228C0400F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tx1">
                <a:lumMod val="85000"/>
                <a:lumOff val="15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-64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884664" y="2532753"/>
            <a:ext cx="609905" cy="60990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5715486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2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A8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4F8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market already moving toward real-time monitoring.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0F3A4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14884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2EA89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~$6.3B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777240" y="283464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F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water-quality monitoring market, 2026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474720" y="1965960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0F3A4B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0" y="214884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2EA89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~$11B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3611880" y="283464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F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market size by 2034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309360" y="1965960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0F3A4B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214884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2EA89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~7.6%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6446520" y="283464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F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 annual growth rate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144000" y="1965960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0F3A4B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0" y="214884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2EA89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40%+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9281160" y="283464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F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now going to real-time/online systems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40080" y="361188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F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industry market-research estimates (2026 reports), rounded for presentation.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40080" y="4160520"/>
            <a:ext cx="10881360" cy="1920240"/>
          </a:xfrm>
          <a:prstGeom prst="roundRect">
            <a:avLst>
              <a:gd name="adj" fmla="val 3810"/>
            </a:avLst>
          </a:prstGeom>
          <a:solidFill>
            <a:srgbClr val="0F3A4B"/>
          </a:solidFill>
          <a:ln/>
        </p:spPr>
      </p:sp>
      <p:sp>
        <p:nvSpPr>
          <p:cNvPr id="18" name="Shape 16"/>
          <p:cNvSpPr/>
          <p:nvPr/>
        </p:nvSpPr>
        <p:spPr>
          <a:xfrm>
            <a:off x="960120" y="4480560"/>
            <a:ext cx="548640" cy="548640"/>
          </a:xfrm>
          <a:prstGeom prst="ellipse">
            <a:avLst/>
          </a:prstGeom>
          <a:solidFill>
            <a:srgbClr val="2EA89D"/>
          </a:solidFill>
          <a:ln/>
        </p:spPr>
      </p:sp>
      <p:pic>
        <p:nvPicPr>
          <p:cNvPr id="19" name="Image 0" descr="icons/target_0A2E3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443" y="4551883"/>
            <a:ext cx="405994" cy="405994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691640" y="45262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F8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now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960120" y="5157216"/>
            <a:ext cx="82296" cy="82296"/>
          </a:xfrm>
          <a:prstGeom prst="ellipse">
            <a:avLst/>
          </a:prstGeom>
          <a:solidFill>
            <a:srgbClr val="2EA89D"/>
          </a:solidFill>
          <a:ln/>
        </p:spPr>
      </p:sp>
      <p:sp>
        <p:nvSpPr>
          <p:cNvPr id="22" name="Text 19"/>
          <p:cNvSpPr/>
          <p:nvPr/>
        </p:nvSpPr>
        <p:spPr>
          <a:xfrm>
            <a:off x="1188720" y="5020056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9F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Tightening regulation (Clean Water Act, EPA PFAS rules) is pushing utilities from periodic sampling to continuous monitoring.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960120" y="5504688"/>
            <a:ext cx="82296" cy="82296"/>
          </a:xfrm>
          <a:prstGeom prst="ellipse">
            <a:avLst/>
          </a:prstGeom>
          <a:solidFill>
            <a:srgbClr val="2EA89D"/>
          </a:solidFill>
          <a:ln/>
        </p:spPr>
      </p:sp>
      <p:sp>
        <p:nvSpPr>
          <p:cNvPr id="24" name="Text 21"/>
          <p:cNvSpPr/>
          <p:nvPr/>
        </p:nvSpPr>
        <p:spPr>
          <a:xfrm>
            <a:off x="1188720" y="536752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9F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and IoT hardware costs keep falling, so more sites can afford always-on data feeds.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960120" y="5852160"/>
            <a:ext cx="82296" cy="82296"/>
          </a:xfrm>
          <a:prstGeom prst="ellipse">
            <a:avLst/>
          </a:prstGeom>
          <a:solidFill>
            <a:srgbClr val="2EA89D"/>
          </a:solidFill>
          <a:ln/>
        </p:spPr>
      </p:sp>
      <p:sp>
        <p:nvSpPr>
          <p:cNvPr id="26" name="Text 23"/>
          <p:cNvSpPr/>
          <p:nvPr/>
        </p:nvSpPr>
        <p:spPr>
          <a:xfrm>
            <a:off x="1188720" y="57150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9F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now makes it practical to turn raw sensor data into a written, actionable report — without a human analyst on call 24/7.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9F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AQUAGUARD AI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2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AI monitoring agent that never clocks out.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120640" cy="3931920"/>
          </a:xfrm>
          <a:prstGeom prst="roundRect">
            <a:avLst>
              <a:gd name="adj" fmla="val 1860"/>
            </a:avLst>
          </a:prstGeom>
          <a:solidFill>
            <a:srgbClr val="0A2E3D"/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" y="2377440"/>
            <a:ext cx="640080" cy="640080"/>
          </a:xfrm>
          <a:prstGeom prst="ellipse">
            <a:avLst/>
          </a:prstGeom>
          <a:solidFill>
            <a:srgbClr val="1B7A72"/>
          </a:solidFill>
          <a:ln/>
        </p:spPr>
      </p:sp>
      <p:pic>
        <p:nvPicPr>
          <p:cNvPr id="6" name="Image 0" descr="icons/droplet_0A2E3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050" y="2460650"/>
            <a:ext cx="473659" cy="47365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320040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EA8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Value Proposition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005840" y="3566160"/>
            <a:ext cx="4389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F4F8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Turns raw sensor readings into an AI-written pollution report and authority alert — in minutes, not days.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1005840" y="4709160"/>
            <a:ext cx="4389120" cy="0"/>
          </a:xfrm>
          <a:prstGeom prst="line">
            <a:avLst/>
          </a:prstGeom>
          <a:noFill/>
          <a:ln w="12700">
            <a:solidFill>
              <a:srgbClr val="1E4A5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05840" y="489204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9F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CONCEPT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005840" y="521208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2EA89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 smoke alarm for waterways.”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080760" y="2011680"/>
            <a:ext cx="5440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around three moves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080760" y="2606040"/>
            <a:ext cx="548640" cy="548640"/>
          </a:xfrm>
          <a:prstGeom prst="ellipse">
            <a:avLst/>
          </a:prstGeom>
          <a:solidFill>
            <a:srgbClr val="1B7A72"/>
          </a:solidFill>
          <a:ln/>
        </p:spPr>
      </p:sp>
      <p:pic>
        <p:nvPicPr>
          <p:cNvPr id="14" name="Image 1" descr="icons/activity_F4F8F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2083" y="2677363"/>
            <a:ext cx="405994" cy="40599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812280" y="2578608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Continuous, not periodic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6812280" y="2935224"/>
            <a:ext cx="4709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 automated pH, turbidity, and dissolved-oxygen readings replace weekly manual checks.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6080760" y="3749040"/>
            <a:ext cx="548640" cy="548640"/>
          </a:xfrm>
          <a:prstGeom prst="ellipse">
            <a:avLst/>
          </a:prstGeom>
          <a:solidFill>
            <a:srgbClr val="1B7A72"/>
          </a:solidFill>
          <a:ln/>
        </p:spPr>
      </p:sp>
      <p:pic>
        <p:nvPicPr>
          <p:cNvPr id="18" name="Image 2" descr="icons/cpu_F4F8F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2083" y="3820363"/>
            <a:ext cx="405994" cy="40599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812280" y="3721608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Judgment, not just data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812280" y="4078224"/>
            <a:ext cx="4709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domain-tuned AI agent explains severity, ecological impact, and what to do next.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6080760" y="4892040"/>
            <a:ext cx="548640" cy="548640"/>
          </a:xfrm>
          <a:prstGeom prst="ellipse">
            <a:avLst/>
          </a:prstGeom>
          <a:solidFill>
            <a:srgbClr val="1B7A72"/>
          </a:solidFill>
          <a:ln/>
        </p:spPr>
      </p:sp>
      <p:pic>
        <p:nvPicPr>
          <p:cNvPr id="22" name="Image 3" descr="icons/mail_F4F8F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52083" y="4963363"/>
            <a:ext cx="405994" cy="40599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812280" y="4864608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Action, not a dashboard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6812280" y="5221224"/>
            <a:ext cx="4709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Authorities are emailed and the incident is logged the moment a threshold is breached.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5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AQUAGUARD AI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2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A8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4F8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sensor reading to authority alert — fully automated.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3172968" y="2651760"/>
            <a:ext cx="219456" cy="0"/>
          </a:xfrm>
          <a:prstGeom prst="line">
            <a:avLst/>
          </a:prstGeom>
          <a:noFill/>
          <a:ln w="19050">
            <a:solidFill>
              <a:srgbClr val="2EA89D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640080" y="2148840"/>
            <a:ext cx="2514600" cy="2880360"/>
          </a:xfrm>
          <a:prstGeom prst="roundRect">
            <a:avLst>
              <a:gd name="adj" fmla="val 2909"/>
            </a:avLst>
          </a:prstGeom>
          <a:solidFill>
            <a:srgbClr val="0F3A4B"/>
          </a:solidFill>
          <a:ln/>
        </p:spPr>
      </p:sp>
      <p:sp>
        <p:nvSpPr>
          <p:cNvPr id="6" name="Shape 4"/>
          <p:cNvSpPr/>
          <p:nvPr/>
        </p:nvSpPr>
        <p:spPr>
          <a:xfrm>
            <a:off x="1485900" y="2468880"/>
            <a:ext cx="822960" cy="822960"/>
          </a:xfrm>
          <a:prstGeom prst="ellipse">
            <a:avLst/>
          </a:prstGeom>
          <a:solidFill>
            <a:srgbClr val="2EA89D"/>
          </a:solidFill>
          <a:ln/>
        </p:spPr>
      </p:sp>
      <p:pic>
        <p:nvPicPr>
          <p:cNvPr id="7" name="Image 0" descr="icons/clock_0A2E3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2885" y="2575865"/>
            <a:ext cx="608990" cy="60899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2313432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F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68680" y="347472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4F8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 hourly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868680" y="3977640"/>
            <a:ext cx="2057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00" dirty="0">
                <a:solidFill>
                  <a:srgbClr val="9F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Pulls fresh pH, turbidity &amp; dissolved-oxygen readings every hour.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943600" y="2651760"/>
            <a:ext cx="219456" cy="0"/>
          </a:xfrm>
          <a:prstGeom prst="line">
            <a:avLst/>
          </a:prstGeom>
          <a:noFill/>
          <a:ln w="19050">
            <a:solidFill>
              <a:srgbClr val="2EA89D"/>
            </a:solidFill>
            <a:prstDash val="dash"/>
          </a:ln>
        </p:spPr>
      </p:sp>
      <p:sp>
        <p:nvSpPr>
          <p:cNvPr id="12" name="Shape 9"/>
          <p:cNvSpPr/>
          <p:nvPr/>
        </p:nvSpPr>
        <p:spPr>
          <a:xfrm>
            <a:off x="3410712" y="2148840"/>
            <a:ext cx="2514600" cy="2880360"/>
          </a:xfrm>
          <a:prstGeom prst="roundRect">
            <a:avLst>
              <a:gd name="adj" fmla="val 2909"/>
            </a:avLst>
          </a:prstGeom>
          <a:solidFill>
            <a:srgbClr val="0F3A4B"/>
          </a:solidFill>
          <a:ln/>
        </p:spPr>
      </p:sp>
      <p:sp>
        <p:nvSpPr>
          <p:cNvPr id="13" name="Shape 10"/>
          <p:cNvSpPr/>
          <p:nvPr/>
        </p:nvSpPr>
        <p:spPr>
          <a:xfrm>
            <a:off x="4256532" y="2468880"/>
            <a:ext cx="822960" cy="822960"/>
          </a:xfrm>
          <a:prstGeom prst="ellipse">
            <a:avLst/>
          </a:prstGeom>
          <a:solidFill>
            <a:srgbClr val="2EA89D"/>
          </a:solidFill>
          <a:ln/>
        </p:spPr>
      </p:sp>
      <p:pic>
        <p:nvPicPr>
          <p:cNvPr id="14" name="Image 1" descr="icons/activity_0A2E3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3517" y="2575865"/>
            <a:ext cx="608990" cy="60899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593592" y="2313432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F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3639312" y="347472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4F8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Classify instantly</a:t>
            </a:r>
            <a:endParaRPr lang="en-US" sz="1550" dirty="0"/>
          </a:p>
        </p:txBody>
      </p:sp>
      <p:sp>
        <p:nvSpPr>
          <p:cNvPr id="17" name="Text 13"/>
          <p:cNvSpPr/>
          <p:nvPr/>
        </p:nvSpPr>
        <p:spPr>
          <a:xfrm>
            <a:off x="3639312" y="3977640"/>
            <a:ext cx="2057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00" dirty="0">
                <a:solidFill>
                  <a:srgbClr val="9F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any reading that breaches safe thresholds.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8714232" y="2651760"/>
            <a:ext cx="219456" cy="0"/>
          </a:xfrm>
          <a:prstGeom prst="line">
            <a:avLst/>
          </a:prstGeom>
          <a:noFill/>
          <a:ln w="19050">
            <a:solidFill>
              <a:srgbClr val="2EA89D"/>
            </a:solidFill>
            <a:prstDash val="dash"/>
          </a:ln>
        </p:spPr>
      </p:sp>
      <p:sp>
        <p:nvSpPr>
          <p:cNvPr id="19" name="Shape 15"/>
          <p:cNvSpPr/>
          <p:nvPr/>
        </p:nvSpPr>
        <p:spPr>
          <a:xfrm>
            <a:off x="6181344" y="2148840"/>
            <a:ext cx="2514600" cy="2880360"/>
          </a:xfrm>
          <a:prstGeom prst="roundRect">
            <a:avLst>
              <a:gd name="adj" fmla="val 2909"/>
            </a:avLst>
          </a:prstGeom>
          <a:solidFill>
            <a:srgbClr val="0F3A4B"/>
          </a:solidFill>
          <a:ln/>
        </p:spPr>
      </p:sp>
      <p:sp>
        <p:nvSpPr>
          <p:cNvPr id="20" name="Shape 16"/>
          <p:cNvSpPr/>
          <p:nvPr/>
        </p:nvSpPr>
        <p:spPr>
          <a:xfrm>
            <a:off x="7027164" y="2468880"/>
            <a:ext cx="822960" cy="822960"/>
          </a:xfrm>
          <a:prstGeom prst="ellipse">
            <a:avLst/>
          </a:prstGeom>
          <a:solidFill>
            <a:srgbClr val="2EA89D"/>
          </a:solidFill>
          <a:ln/>
        </p:spPr>
      </p:sp>
      <p:pic>
        <p:nvPicPr>
          <p:cNvPr id="21" name="Image 2" descr="icons/cpu_0A2E3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4149" y="2575865"/>
            <a:ext cx="608990" cy="60899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364224" y="2313432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F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6409944" y="347472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4F8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assessment</a:t>
            </a:r>
            <a:endParaRPr lang="en-US" sz="1550" dirty="0"/>
          </a:p>
        </p:txBody>
      </p:sp>
      <p:sp>
        <p:nvSpPr>
          <p:cNvPr id="24" name="Text 19"/>
          <p:cNvSpPr/>
          <p:nvPr/>
        </p:nvSpPr>
        <p:spPr>
          <a:xfrm>
            <a:off x="6409944" y="3977640"/>
            <a:ext cx="2057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00" dirty="0">
                <a:solidFill>
                  <a:srgbClr val="9F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marine-scientist AI agent writes severity, impact &amp; remediation steps.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8951976" y="2148840"/>
            <a:ext cx="2514600" cy="2880360"/>
          </a:xfrm>
          <a:prstGeom prst="roundRect">
            <a:avLst>
              <a:gd name="adj" fmla="val 2909"/>
            </a:avLst>
          </a:prstGeom>
          <a:solidFill>
            <a:srgbClr val="0F3A4B"/>
          </a:solidFill>
          <a:ln/>
        </p:spPr>
      </p:sp>
      <p:sp>
        <p:nvSpPr>
          <p:cNvPr id="26" name="Shape 21"/>
          <p:cNvSpPr/>
          <p:nvPr/>
        </p:nvSpPr>
        <p:spPr>
          <a:xfrm>
            <a:off x="9797796" y="2468880"/>
            <a:ext cx="822960" cy="822960"/>
          </a:xfrm>
          <a:prstGeom prst="ellipse">
            <a:avLst/>
          </a:prstGeom>
          <a:solidFill>
            <a:srgbClr val="2EA89D"/>
          </a:solidFill>
          <a:ln/>
        </p:spPr>
      </p:sp>
      <p:pic>
        <p:nvPicPr>
          <p:cNvPr id="27" name="Image 3" descr="icons/mail_0A2E3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04781" y="2575865"/>
            <a:ext cx="608990" cy="60899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9134856" y="2313432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F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9180576" y="347472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4F8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Alert &amp; log</a:t>
            </a:r>
            <a:endParaRPr lang="en-US" sz="1550" dirty="0"/>
          </a:p>
        </p:txBody>
      </p:sp>
      <p:sp>
        <p:nvSpPr>
          <p:cNvPr id="30" name="Text 24"/>
          <p:cNvSpPr/>
          <p:nvPr/>
        </p:nvSpPr>
        <p:spPr>
          <a:xfrm>
            <a:off x="9180576" y="3977640"/>
            <a:ext cx="2057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00" dirty="0">
                <a:solidFill>
                  <a:srgbClr val="9F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Emails authorities and records the incident automatically.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640080" y="53492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F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run is idempotent: readings already processed are never re-alerted or re-logged.</a:t>
            </a:r>
            <a:endParaRPr lang="en-US" sz="1300" dirty="0"/>
          </a:p>
        </p:txBody>
      </p:sp>
      <p:sp>
        <p:nvSpPr>
          <p:cNvPr id="32" name="Text 26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9F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AQUAGUARD AI</a:t>
            </a:r>
            <a:endParaRPr lang="en-US" sz="900" dirty="0"/>
          </a:p>
        </p:txBody>
      </p:sp>
      <p:sp>
        <p:nvSpPr>
          <p:cNvPr id="33" name="Text 2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SNAPSHOT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A2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authority actually receives.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4206240" cy="3977640"/>
          </a:xfrm>
          <a:prstGeom prst="roundRect">
            <a:avLst>
              <a:gd name="adj" fmla="val 1839"/>
            </a:avLst>
          </a:prstGeom>
          <a:solidFill>
            <a:srgbClr val="0A2E3D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21488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9F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READING — Site 14, Delta Estuary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960120" y="2651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377440" y="26517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5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5.4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429000" y="2679192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F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safe (&lt; 6)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960120" y="32004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Turbidity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377440" y="32004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5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68 NTU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429000" y="3227832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F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safe (&gt; 50)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960120" y="37490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Dissolved O₂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377440" y="37490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5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4.1 mg/L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429000" y="3776472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F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safe (&lt; 5)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960120" y="4343400"/>
            <a:ext cx="3566160" cy="0"/>
          </a:xfrm>
          <a:prstGeom prst="line">
            <a:avLst/>
          </a:prstGeom>
          <a:noFill/>
          <a:ln w="12700">
            <a:solidFill>
              <a:srgbClr val="1E4A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45262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9F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60120" y="484632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FF5A44"/>
          </a:solidFill>
          <a:ln/>
        </p:spPr>
      </p:sp>
      <p:sp>
        <p:nvSpPr>
          <p:cNvPr id="18" name="Text 16"/>
          <p:cNvSpPr/>
          <p:nvPr/>
        </p:nvSpPr>
        <p:spPr>
          <a:xfrm>
            <a:off x="960120" y="48463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4F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POLLUTED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74920" y="1874520"/>
            <a:ext cx="612648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B2B33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349240" y="2148840"/>
            <a:ext cx="502920" cy="502920"/>
          </a:xfrm>
          <a:prstGeom prst="ellipse">
            <a:avLst/>
          </a:prstGeom>
          <a:solidFill>
            <a:srgbClr val="1B7A72"/>
          </a:solidFill>
          <a:ln/>
        </p:spPr>
      </p:sp>
      <p:pic>
        <p:nvPicPr>
          <p:cNvPr id="21" name="Image 0" descr="icons/cpu_F4F8F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4620" y="2214220"/>
            <a:ext cx="372161" cy="372161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5989320" y="2167128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Pollution Assessment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5989320" y="253288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in ~8 seconds by the Marine Environmental Scientist agent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5394960" y="3063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Pollution Assessment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5394960" y="3355848"/>
            <a:ext cx="5486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parameters breached simultaneously — moderate-to-severe acute event, consistent with a runoff or discharge spike.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5394960" y="410565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on Aquatic Life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5394960" y="4398264"/>
            <a:ext cx="5486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oxygen and high turbidity stress gill function in fish and invertebrates; low pH risks shell and egg viability.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5394960" y="51480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Actions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5394960" y="5440680"/>
            <a:ext cx="5486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 a field team within 4 hours, trace the upstream source, and re-sample hourly until readings normalize.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5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AQUAGUARD AI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LANDSCAPE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A2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Everyone measures water. Almost no one acts on it in real time.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0881360" cy="640080"/>
          </a:xfrm>
          <a:prstGeom prst="roundRect">
            <a:avLst>
              <a:gd name="adj" fmla="val 8571"/>
            </a:avLst>
          </a:prstGeom>
          <a:solidFill>
            <a:srgbClr val="0A2E3D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7452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F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846320" y="1874520"/>
            <a:ext cx="2225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9F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Lab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9F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071360" y="1874520"/>
            <a:ext cx="2225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9F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IoT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9F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296400" y="1874520"/>
            <a:ext cx="2225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EA8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AquaGuard AI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9296400" y="2514600"/>
            <a:ext cx="2225040" cy="3072384"/>
          </a:xfrm>
          <a:prstGeom prst="rect">
            <a:avLst/>
          </a:prstGeom>
          <a:solidFill>
            <a:srgbClr val="E9F4F2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514600"/>
            <a:ext cx="3840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hourly readings</a:t>
            </a:r>
            <a:endParaRPr lang="en-US" sz="1200" dirty="0"/>
          </a:p>
        </p:txBody>
      </p:sp>
      <p:pic>
        <p:nvPicPr>
          <p:cNvPr id="11" name="Image 0" descr="icons/x_C9D3D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0824" y="2642616"/>
            <a:ext cx="256032" cy="256032"/>
          </a:xfrm>
          <a:prstGeom prst="rect">
            <a:avLst/>
          </a:prstGeom>
        </p:spPr>
      </p:pic>
      <p:pic>
        <p:nvPicPr>
          <p:cNvPr id="12" name="Image 1" descr="icons/check_1B7A7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5864" y="2642616"/>
            <a:ext cx="256032" cy="256032"/>
          </a:xfrm>
          <a:prstGeom prst="rect">
            <a:avLst/>
          </a:prstGeom>
        </p:spPr>
      </p:pic>
      <p:pic>
        <p:nvPicPr>
          <p:cNvPr id="13" name="Image 2" descr="icons/check_1B7A7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0904" y="2642616"/>
            <a:ext cx="256032" cy="256032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640080" y="3026664"/>
            <a:ext cx="8656320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0"/>
          <p:cNvSpPr/>
          <p:nvPr/>
        </p:nvSpPr>
        <p:spPr>
          <a:xfrm>
            <a:off x="914400" y="3026664"/>
            <a:ext cx="3840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pollution classification</a:t>
            </a:r>
            <a:endParaRPr lang="en-US" sz="1200" dirty="0"/>
          </a:p>
        </p:txBody>
      </p:sp>
      <p:pic>
        <p:nvPicPr>
          <p:cNvPr id="16" name="Image 3" descr="icons/x_C9D3D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0824" y="3154680"/>
            <a:ext cx="256032" cy="256032"/>
          </a:xfrm>
          <a:prstGeom prst="rect">
            <a:avLst/>
          </a:prstGeom>
        </p:spPr>
      </p:pic>
      <p:pic>
        <p:nvPicPr>
          <p:cNvPr id="17" name="Image 4" descr="icons/x_C9D3D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5864" y="3154680"/>
            <a:ext cx="256032" cy="256032"/>
          </a:xfrm>
          <a:prstGeom prst="rect">
            <a:avLst/>
          </a:prstGeom>
        </p:spPr>
      </p:pic>
      <p:pic>
        <p:nvPicPr>
          <p:cNvPr id="18" name="Image 5" descr="icons/check_1B7A7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0904" y="3154680"/>
            <a:ext cx="256032" cy="256032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914400" y="3538728"/>
            <a:ext cx="3840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scientific impact assessment</a:t>
            </a:r>
            <a:endParaRPr lang="en-US" sz="1200" dirty="0"/>
          </a:p>
        </p:txBody>
      </p:sp>
      <p:pic>
        <p:nvPicPr>
          <p:cNvPr id="20" name="Image 6" descr="icons/x_C9D3D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0824" y="3666744"/>
            <a:ext cx="256032" cy="256032"/>
          </a:xfrm>
          <a:prstGeom prst="rect">
            <a:avLst/>
          </a:prstGeom>
        </p:spPr>
      </p:pic>
      <p:pic>
        <p:nvPicPr>
          <p:cNvPr id="21" name="Image 7" descr="icons/x_C9D3D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5864" y="3666744"/>
            <a:ext cx="256032" cy="256032"/>
          </a:xfrm>
          <a:prstGeom prst="rect">
            <a:avLst/>
          </a:prstGeom>
        </p:spPr>
      </p:pic>
      <p:pic>
        <p:nvPicPr>
          <p:cNvPr id="22" name="Image 8" descr="icons/check_1B7A7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0904" y="3666744"/>
            <a:ext cx="256032" cy="256032"/>
          </a:xfrm>
          <a:prstGeom prst="rect">
            <a:avLst/>
          </a:prstGeom>
        </p:spPr>
      </p:pic>
      <p:sp>
        <p:nvSpPr>
          <p:cNvPr id="23" name="Shape 12"/>
          <p:cNvSpPr/>
          <p:nvPr/>
        </p:nvSpPr>
        <p:spPr>
          <a:xfrm>
            <a:off x="640080" y="4050792"/>
            <a:ext cx="8656320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13"/>
          <p:cNvSpPr/>
          <p:nvPr/>
        </p:nvSpPr>
        <p:spPr>
          <a:xfrm>
            <a:off x="914400" y="4050792"/>
            <a:ext cx="3840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authority alerting</a:t>
            </a:r>
            <a:endParaRPr lang="en-US" sz="1200" dirty="0"/>
          </a:p>
        </p:txBody>
      </p:sp>
      <p:pic>
        <p:nvPicPr>
          <p:cNvPr id="25" name="Image 9" descr="icons/x_C9D3D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0824" y="4178808"/>
            <a:ext cx="256032" cy="256032"/>
          </a:xfrm>
          <a:prstGeom prst="rect">
            <a:avLst/>
          </a:prstGeom>
        </p:spPr>
      </p:pic>
      <p:pic>
        <p:nvPicPr>
          <p:cNvPr id="26" name="Image 10" descr="icons/x_C9D3D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5864" y="4178808"/>
            <a:ext cx="256032" cy="256032"/>
          </a:xfrm>
          <a:prstGeom prst="rect">
            <a:avLst/>
          </a:prstGeom>
        </p:spPr>
      </p:pic>
      <p:pic>
        <p:nvPicPr>
          <p:cNvPr id="27" name="Image 11" descr="icons/check_1B7A7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0904" y="4178808"/>
            <a:ext cx="256032" cy="256032"/>
          </a:xfrm>
          <a:prstGeom prst="rect">
            <a:avLst/>
          </a:prstGeom>
        </p:spPr>
      </p:pic>
      <p:sp>
        <p:nvSpPr>
          <p:cNvPr id="28" name="Text 14"/>
          <p:cNvSpPr/>
          <p:nvPr/>
        </p:nvSpPr>
        <p:spPr>
          <a:xfrm>
            <a:off x="914400" y="4562856"/>
            <a:ext cx="3840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Auto-logged, auditable incident trail</a:t>
            </a:r>
            <a:endParaRPr lang="en-US" sz="1200" dirty="0"/>
          </a:p>
        </p:txBody>
      </p:sp>
      <p:pic>
        <p:nvPicPr>
          <p:cNvPr id="29" name="Image 12" descr="icons/x_C9D3D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0824" y="4690872"/>
            <a:ext cx="256032" cy="256032"/>
          </a:xfrm>
          <a:prstGeom prst="rect">
            <a:avLst/>
          </a:prstGeom>
        </p:spPr>
      </p:pic>
      <p:pic>
        <p:nvPicPr>
          <p:cNvPr id="30" name="Image 13" descr="icons/x_C9D3D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5864" y="4690872"/>
            <a:ext cx="256032" cy="256032"/>
          </a:xfrm>
          <a:prstGeom prst="rect">
            <a:avLst/>
          </a:prstGeom>
        </p:spPr>
      </p:pic>
      <p:pic>
        <p:nvPicPr>
          <p:cNvPr id="31" name="Image 14" descr="icons/check_1B7A7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0904" y="4690872"/>
            <a:ext cx="256032" cy="256032"/>
          </a:xfrm>
          <a:prstGeom prst="rect">
            <a:avLst/>
          </a:prstGeom>
        </p:spPr>
      </p:pic>
      <p:sp>
        <p:nvSpPr>
          <p:cNvPr id="32" name="Shape 15"/>
          <p:cNvSpPr/>
          <p:nvPr/>
        </p:nvSpPr>
        <p:spPr>
          <a:xfrm>
            <a:off x="640080" y="5074920"/>
            <a:ext cx="8656320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16"/>
          <p:cNvSpPr/>
          <p:nvPr/>
        </p:nvSpPr>
        <p:spPr>
          <a:xfrm>
            <a:off x="914400" y="5074920"/>
            <a:ext cx="3840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dedicated analyst required</a:t>
            </a:r>
            <a:endParaRPr lang="en-US" sz="1200" dirty="0"/>
          </a:p>
        </p:txBody>
      </p:sp>
      <p:pic>
        <p:nvPicPr>
          <p:cNvPr id="34" name="Image 15" descr="icons/x_C9D3D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0824" y="5202936"/>
            <a:ext cx="256032" cy="256032"/>
          </a:xfrm>
          <a:prstGeom prst="rect">
            <a:avLst/>
          </a:prstGeom>
        </p:spPr>
      </p:pic>
      <p:pic>
        <p:nvPicPr>
          <p:cNvPr id="35" name="Image 16" descr="icons/check_1B7A7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5864" y="5202936"/>
            <a:ext cx="256032" cy="256032"/>
          </a:xfrm>
          <a:prstGeom prst="rect">
            <a:avLst/>
          </a:prstGeom>
        </p:spPr>
      </p:pic>
      <p:pic>
        <p:nvPicPr>
          <p:cNvPr id="36" name="Image 17" descr="icons/check_1B7A7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0904" y="5202936"/>
            <a:ext cx="256032" cy="256032"/>
          </a:xfrm>
          <a:prstGeom prst="rect">
            <a:avLst/>
          </a:prstGeom>
        </p:spPr>
      </p:pic>
      <p:sp>
        <p:nvSpPr>
          <p:cNvPr id="37" name="Shape 17"/>
          <p:cNvSpPr/>
          <p:nvPr/>
        </p:nvSpPr>
        <p:spPr>
          <a:xfrm>
            <a:off x="640080" y="5586984"/>
            <a:ext cx="10881360" cy="0"/>
          </a:xfrm>
          <a:prstGeom prst="line">
            <a:avLst/>
          </a:prstGeom>
          <a:noFill/>
          <a:ln w="12700">
            <a:solidFill>
              <a:srgbClr val="D8E1E3"/>
            </a:solidFill>
            <a:prstDash val="solid"/>
          </a:ln>
        </p:spPr>
      </p:sp>
      <p:sp>
        <p:nvSpPr>
          <p:cNvPr id="38" name="Text 18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5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AQUAGUARD AI</a:t>
            </a:r>
            <a:endParaRPr lang="en-US" sz="900" dirty="0"/>
          </a:p>
        </p:txBody>
      </p:sp>
      <p:sp>
        <p:nvSpPr>
          <p:cNvPr id="39" name="Text 1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&amp; CUSTOMERS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2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Who's responsible for water quality — and who feels it first.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9202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Segments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423160"/>
            <a:ext cx="502920" cy="502920"/>
          </a:xfrm>
          <a:prstGeom prst="ellipse">
            <a:avLst/>
          </a:prstGeom>
          <a:solidFill>
            <a:srgbClr val="1B7A72"/>
          </a:solidFill>
          <a:ln/>
        </p:spPr>
      </p:sp>
      <p:pic>
        <p:nvPicPr>
          <p:cNvPr id="6" name="Image 0" descr="icons/database_F4F8F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460" y="2488540"/>
            <a:ext cx="372161" cy="37216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242316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Municipal water authorities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" y="3136392"/>
            <a:ext cx="502920" cy="502920"/>
          </a:xfrm>
          <a:prstGeom prst="ellipse">
            <a:avLst/>
          </a:prstGeom>
          <a:solidFill>
            <a:srgbClr val="1B7A72"/>
          </a:solidFill>
          <a:ln/>
        </p:spPr>
      </p:sp>
      <p:pic>
        <p:nvPicPr>
          <p:cNvPr id="9" name="Image 1" descr="icons/shield_F4F8F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460" y="3201772"/>
            <a:ext cx="372161" cy="37216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25880" y="3136392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protection agencies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640080" y="3849624"/>
            <a:ext cx="502920" cy="502920"/>
          </a:xfrm>
          <a:prstGeom prst="ellipse">
            <a:avLst/>
          </a:prstGeom>
          <a:solidFill>
            <a:srgbClr val="1B7A72"/>
          </a:solidFill>
          <a:ln/>
        </p:spPr>
      </p:sp>
      <p:pic>
        <p:nvPicPr>
          <p:cNvPr id="12" name="Image 2" descr="icons/activity_F4F8F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5460" y="3915004"/>
            <a:ext cx="372161" cy="37216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25880" y="3849624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wastewater dischargers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640080" y="4562856"/>
            <a:ext cx="502920" cy="502920"/>
          </a:xfrm>
          <a:prstGeom prst="ellipse">
            <a:avLst/>
          </a:prstGeom>
          <a:solidFill>
            <a:srgbClr val="1B7A72"/>
          </a:solidFill>
          <a:ln/>
        </p:spPr>
      </p:sp>
      <p:pic>
        <p:nvPicPr>
          <p:cNvPr id="15" name="Image 3" descr="icons/droplet_F4F8F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5460" y="4628236"/>
            <a:ext cx="372161" cy="372161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325880" y="4562856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Aquaculture &amp; fisheries operators</a:t>
            </a:r>
            <a:endParaRPr lang="en-US" sz="1300" dirty="0"/>
          </a:p>
        </p:txBody>
      </p:sp>
      <p:sp>
        <p:nvSpPr>
          <p:cNvPr id="17" name="Shape 11"/>
          <p:cNvSpPr/>
          <p:nvPr/>
        </p:nvSpPr>
        <p:spPr>
          <a:xfrm>
            <a:off x="6309360" y="1920240"/>
            <a:ext cx="5212080" cy="3931920"/>
          </a:xfrm>
          <a:prstGeom prst="roundRect">
            <a:avLst>
              <a:gd name="adj" fmla="val 1860"/>
            </a:avLst>
          </a:prstGeom>
          <a:solidFill>
            <a:srgbClr val="0A2E3D"/>
          </a:solidFill>
          <a:ln/>
        </p:spPr>
      </p:sp>
      <p:sp>
        <p:nvSpPr>
          <p:cNvPr id="18" name="Shape 12"/>
          <p:cNvSpPr/>
          <p:nvPr/>
        </p:nvSpPr>
        <p:spPr>
          <a:xfrm>
            <a:off x="6629400" y="2240280"/>
            <a:ext cx="548640" cy="548640"/>
          </a:xfrm>
          <a:prstGeom prst="ellipse">
            <a:avLst/>
          </a:prstGeom>
          <a:solidFill>
            <a:srgbClr val="2EA89D"/>
          </a:solidFill>
          <a:ln/>
        </p:spPr>
      </p:sp>
      <p:pic>
        <p:nvPicPr>
          <p:cNvPr id="19" name="Image 4" descr="icons/trend_0A2E3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00723" y="2311603"/>
            <a:ext cx="405994" cy="405994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7315200" y="22860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4F8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Early Adopters</a:t>
            </a:r>
            <a:endParaRPr lang="en-US" sz="1700" dirty="0"/>
          </a:p>
        </p:txBody>
      </p:sp>
      <p:sp>
        <p:nvSpPr>
          <p:cNvPr id="21" name="Shape 14"/>
          <p:cNvSpPr/>
          <p:nvPr/>
        </p:nvSpPr>
        <p:spPr>
          <a:xfrm>
            <a:off x="6675120" y="3136392"/>
            <a:ext cx="82296" cy="82296"/>
          </a:xfrm>
          <a:prstGeom prst="ellipse">
            <a:avLst/>
          </a:prstGeom>
          <a:solidFill>
            <a:srgbClr val="2EA89D"/>
          </a:solidFill>
          <a:ln/>
        </p:spPr>
      </p:sp>
      <p:sp>
        <p:nvSpPr>
          <p:cNvPr id="22" name="Text 15"/>
          <p:cNvSpPr/>
          <p:nvPr/>
        </p:nvSpPr>
        <p:spPr>
          <a:xfrm>
            <a:off x="6903720" y="2990088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9F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districts with sensors already installed, but no automated alerting layer on top</a:t>
            </a:r>
            <a:endParaRPr lang="en-US" sz="1250" dirty="0"/>
          </a:p>
        </p:txBody>
      </p:sp>
      <p:sp>
        <p:nvSpPr>
          <p:cNvPr id="23" name="Shape 16"/>
          <p:cNvSpPr/>
          <p:nvPr/>
        </p:nvSpPr>
        <p:spPr>
          <a:xfrm>
            <a:off x="6675120" y="4050792"/>
            <a:ext cx="82296" cy="82296"/>
          </a:xfrm>
          <a:prstGeom prst="ellipse">
            <a:avLst/>
          </a:prstGeom>
          <a:solidFill>
            <a:srgbClr val="2EA89D"/>
          </a:solidFill>
          <a:ln/>
        </p:spPr>
      </p:sp>
      <p:sp>
        <p:nvSpPr>
          <p:cNvPr id="24" name="Text 17"/>
          <p:cNvSpPr/>
          <p:nvPr/>
        </p:nvSpPr>
        <p:spPr>
          <a:xfrm>
            <a:off x="6903720" y="3904488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9F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River &amp; lake conservation NGOs monitoring specific watersheds</a:t>
            </a:r>
            <a:endParaRPr lang="en-US" sz="1250" dirty="0"/>
          </a:p>
        </p:txBody>
      </p:sp>
      <p:sp>
        <p:nvSpPr>
          <p:cNvPr id="25" name="Shape 18"/>
          <p:cNvSpPr/>
          <p:nvPr/>
        </p:nvSpPr>
        <p:spPr>
          <a:xfrm>
            <a:off x="6675120" y="4965192"/>
            <a:ext cx="82296" cy="82296"/>
          </a:xfrm>
          <a:prstGeom prst="ellipse">
            <a:avLst/>
          </a:prstGeom>
          <a:solidFill>
            <a:srgbClr val="2EA89D"/>
          </a:solidFill>
          <a:ln/>
        </p:spPr>
      </p:sp>
      <p:sp>
        <p:nvSpPr>
          <p:cNvPr id="26" name="Text 19"/>
          <p:cNvSpPr/>
          <p:nvPr/>
        </p:nvSpPr>
        <p:spPr>
          <a:xfrm>
            <a:off x="6903720" y="4818888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9F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sites under regulatory pressure to self-monitor discharge</a:t>
            </a:r>
            <a:endParaRPr lang="en-US" sz="1250" dirty="0"/>
          </a:p>
        </p:txBody>
      </p:sp>
      <p:sp>
        <p:nvSpPr>
          <p:cNvPr id="27" name="Text 20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5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AQUAGUARD AI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A2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Priced like the infrastructure it protects.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074920" cy="3886200"/>
          </a:xfrm>
          <a:prstGeom prst="roundRect">
            <a:avLst>
              <a:gd name="adj" fmla="val 1882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B2B33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286000"/>
            <a:ext cx="548640" cy="548640"/>
          </a:xfrm>
          <a:prstGeom prst="ellipse">
            <a:avLst/>
          </a:prstGeom>
          <a:solidFill>
            <a:srgbClr val="1B7A72"/>
          </a:solidFill>
          <a:ln/>
        </p:spPr>
      </p:sp>
      <p:pic>
        <p:nvPicPr>
          <p:cNvPr id="6" name="Image 0" descr="icons/dollar_F4F8F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443" y="2357323"/>
            <a:ext cx="405994" cy="40599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2331720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Streams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960120" y="3191256"/>
            <a:ext cx="82296" cy="82296"/>
          </a:xfrm>
          <a:prstGeom prst="ellipse">
            <a:avLst/>
          </a:prstGeom>
          <a:solidFill>
            <a:srgbClr val="1B7A72"/>
          </a:solidFill>
          <a:ln/>
        </p:spPr>
      </p:sp>
      <p:sp>
        <p:nvSpPr>
          <p:cNvPr id="9" name="Text 6"/>
          <p:cNvSpPr/>
          <p:nvPr/>
        </p:nvSpPr>
        <p:spPr>
          <a:xfrm>
            <a:off x="1188720" y="310896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Per-site monthly subscription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960120" y="3813048"/>
            <a:ext cx="82296" cy="82296"/>
          </a:xfrm>
          <a:prstGeom prst="ellipse">
            <a:avLst/>
          </a:prstGeom>
          <a:solidFill>
            <a:srgbClr val="1B7A72"/>
          </a:solidFill>
          <a:ln/>
        </p:spPr>
      </p:sp>
      <p:sp>
        <p:nvSpPr>
          <p:cNvPr id="11" name="Text 8"/>
          <p:cNvSpPr/>
          <p:nvPr/>
        </p:nvSpPr>
        <p:spPr>
          <a:xfrm>
            <a:off x="1188720" y="373075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Tiered pricing by monitoring points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960120" y="4434840"/>
            <a:ext cx="82296" cy="82296"/>
          </a:xfrm>
          <a:prstGeom prst="ellipse">
            <a:avLst/>
          </a:prstGeom>
          <a:solidFill>
            <a:srgbClr val="1B7A72"/>
          </a:solidFill>
          <a:ln/>
        </p:spPr>
      </p:sp>
      <p:sp>
        <p:nvSpPr>
          <p:cNvPr id="13" name="Text 10"/>
          <p:cNvSpPr/>
          <p:nvPr/>
        </p:nvSpPr>
        <p:spPr>
          <a:xfrm>
            <a:off x="1188720" y="4352544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Incident-response consulting add-on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960120" y="5056632"/>
            <a:ext cx="82296" cy="82296"/>
          </a:xfrm>
          <a:prstGeom prst="ellipse">
            <a:avLst/>
          </a:prstGeom>
          <a:solidFill>
            <a:srgbClr val="1B7A72"/>
          </a:solidFill>
          <a:ln/>
        </p:spPr>
      </p:sp>
      <p:sp>
        <p:nvSpPr>
          <p:cNvPr id="15" name="Text 12"/>
          <p:cNvSpPr/>
          <p:nvPr/>
        </p:nvSpPr>
        <p:spPr>
          <a:xfrm>
            <a:off x="1188720" y="4974336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monitoring contracts &amp; grants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172200" y="1965960"/>
            <a:ext cx="5074920" cy="3886200"/>
          </a:xfrm>
          <a:prstGeom prst="roundRect">
            <a:avLst>
              <a:gd name="adj" fmla="val 1882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B2B33">
                <a:alpha val="1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492240" y="2286000"/>
            <a:ext cx="548640" cy="548640"/>
          </a:xfrm>
          <a:prstGeom prst="ellipse">
            <a:avLst/>
          </a:prstGeom>
          <a:solidFill>
            <a:srgbClr val="FF5A44"/>
          </a:solidFill>
          <a:ln/>
        </p:spPr>
      </p:sp>
      <p:pic>
        <p:nvPicPr>
          <p:cNvPr id="18" name="Image 1" descr="icons/chart_F4F8F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3563" y="2357323"/>
            <a:ext cx="405994" cy="405994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178040" y="2331720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Structure</a:t>
            </a: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>
            <a:off x="6492240" y="3191256"/>
            <a:ext cx="82296" cy="82296"/>
          </a:xfrm>
          <a:prstGeom prst="ellipse">
            <a:avLst/>
          </a:prstGeom>
          <a:solidFill>
            <a:srgbClr val="FF5A44"/>
          </a:solidFill>
          <a:ln/>
        </p:spPr>
      </p:sp>
      <p:sp>
        <p:nvSpPr>
          <p:cNvPr id="21" name="Text 17"/>
          <p:cNvSpPr/>
          <p:nvPr/>
        </p:nvSpPr>
        <p:spPr>
          <a:xfrm>
            <a:off x="6720840" y="310896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&amp; data-feed costs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6492240" y="3739896"/>
            <a:ext cx="82296" cy="82296"/>
          </a:xfrm>
          <a:prstGeom prst="ellipse">
            <a:avLst/>
          </a:prstGeom>
          <a:solidFill>
            <a:srgbClr val="FF5A44"/>
          </a:solidFill>
          <a:ln/>
        </p:spPr>
      </p:sp>
      <p:sp>
        <p:nvSpPr>
          <p:cNvPr id="23" name="Text 19"/>
          <p:cNvSpPr/>
          <p:nvPr/>
        </p:nvSpPr>
        <p:spPr>
          <a:xfrm>
            <a:off x="6720840" y="365760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&amp; automation hosting</a:t>
            </a:r>
            <a:endParaRPr lang="en-US" sz="1300" dirty="0"/>
          </a:p>
        </p:txBody>
      </p:sp>
      <p:sp>
        <p:nvSpPr>
          <p:cNvPr id="24" name="Shape 20"/>
          <p:cNvSpPr/>
          <p:nvPr/>
        </p:nvSpPr>
        <p:spPr>
          <a:xfrm>
            <a:off x="6492240" y="4288536"/>
            <a:ext cx="82296" cy="82296"/>
          </a:xfrm>
          <a:prstGeom prst="ellipse">
            <a:avLst/>
          </a:prstGeom>
          <a:solidFill>
            <a:srgbClr val="FF5A44"/>
          </a:solidFill>
          <a:ln/>
        </p:spPr>
      </p:sp>
      <p:sp>
        <p:nvSpPr>
          <p:cNvPr id="25" name="Text 21"/>
          <p:cNvSpPr/>
          <p:nvPr/>
        </p:nvSpPr>
        <p:spPr>
          <a:xfrm>
            <a:off x="6720840" y="420624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LLM API usage per assessment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6492240" y="4837176"/>
            <a:ext cx="82296" cy="82296"/>
          </a:xfrm>
          <a:prstGeom prst="ellipse">
            <a:avLst/>
          </a:prstGeom>
          <a:solidFill>
            <a:srgbClr val="FF5A44"/>
          </a:solidFill>
          <a:ln/>
        </p:spPr>
      </p:sp>
      <p:sp>
        <p:nvSpPr>
          <p:cNvPr id="27" name="Text 23"/>
          <p:cNvSpPr/>
          <p:nvPr/>
        </p:nvSpPr>
        <p:spPr>
          <a:xfrm>
            <a:off x="6720840" y="475488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acquisition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6492240" y="5385816"/>
            <a:ext cx="82296" cy="82296"/>
          </a:xfrm>
          <a:prstGeom prst="ellipse">
            <a:avLst/>
          </a:prstGeom>
          <a:solidFill>
            <a:srgbClr val="FF5A44"/>
          </a:solidFill>
          <a:ln/>
        </p:spPr>
      </p:sp>
      <p:sp>
        <p:nvSpPr>
          <p:cNvPr id="29" name="Text 25"/>
          <p:cNvSpPr/>
          <p:nvPr/>
        </p:nvSpPr>
        <p:spPr>
          <a:xfrm>
            <a:off x="6720840" y="530352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&amp; compliance staff</a:t>
            </a:r>
            <a:endParaRPr lang="en-US" sz="1300" dirty="0"/>
          </a:p>
        </p:txBody>
      </p:sp>
      <p:sp>
        <p:nvSpPr>
          <p:cNvPr id="30" name="Text 26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5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AQUAGUARD AI</a:t>
            </a:r>
            <a:endParaRPr lang="en-US" sz="900" dirty="0"/>
          </a:p>
        </p:txBody>
      </p:sp>
      <p:sp>
        <p:nvSpPr>
          <p:cNvPr id="31" name="Text 2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2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A8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AQUAGUARD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4F8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pipeline is easy to sketch. It's hard to run end-to-end.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0F3A4B"/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" y="2221992"/>
            <a:ext cx="685800" cy="685800"/>
          </a:xfrm>
          <a:prstGeom prst="ellipse">
            <a:avLst/>
          </a:prstGeom>
          <a:solidFill>
            <a:srgbClr val="2EA89D"/>
          </a:solidFill>
          <a:ln/>
        </p:spPr>
      </p:sp>
      <p:pic>
        <p:nvPicPr>
          <p:cNvPr id="6" name="Image 0" descr="icons/shield_0A2E3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4994" y="2311146"/>
            <a:ext cx="507492" cy="50749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20240" y="2057400"/>
            <a:ext cx="9235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EA8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Unfair Advantage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920240" y="2377440"/>
            <a:ext cx="9144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9F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automated pipeline pairs a domain-tuned “environmental scientist” AI agent with detection and alerting — plus a growing incident-log dataset that sharpens every future assessment.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0080" y="35661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F8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Metrics We Track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40080" y="4114800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0F3A4B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" y="429768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EA89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&lt;1 hr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777240" y="498348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F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cadence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3474720" y="4114800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0F3A4B"/>
          </a:solidFill>
          <a:ln/>
        </p:spPr>
      </p:sp>
      <p:sp>
        <p:nvSpPr>
          <p:cNvPr id="14" name="Text 11"/>
          <p:cNvSpPr/>
          <p:nvPr/>
        </p:nvSpPr>
        <p:spPr>
          <a:xfrm>
            <a:off x="3474720" y="429768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EA89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~8 sec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3611880" y="498348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F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AI assessment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309360" y="4114800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0F3A4B"/>
          </a:solidFill>
          <a:ln/>
        </p:spPr>
      </p:sp>
      <p:sp>
        <p:nvSpPr>
          <p:cNvPr id="17" name="Text 14"/>
          <p:cNvSpPr/>
          <p:nvPr/>
        </p:nvSpPr>
        <p:spPr>
          <a:xfrm>
            <a:off x="6309360" y="429768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EA89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000" dirty="0"/>
          </a:p>
        </p:txBody>
      </p:sp>
      <p:sp>
        <p:nvSpPr>
          <p:cNvPr id="18" name="Text 15"/>
          <p:cNvSpPr/>
          <p:nvPr/>
        </p:nvSpPr>
        <p:spPr>
          <a:xfrm>
            <a:off x="6446520" y="498348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F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Incidents auto-logged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9144000" y="4114800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0F3A4B"/>
          </a:solidFill>
          <a:ln/>
        </p:spPr>
      </p:sp>
      <p:sp>
        <p:nvSpPr>
          <p:cNvPr id="20" name="Text 17"/>
          <p:cNvSpPr/>
          <p:nvPr/>
        </p:nvSpPr>
        <p:spPr>
          <a:xfrm>
            <a:off x="9144000" y="429768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EA89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000" dirty="0"/>
          </a:p>
        </p:txBody>
      </p:sp>
      <p:sp>
        <p:nvSpPr>
          <p:cNvPr id="21" name="Text 18"/>
          <p:cNvSpPr/>
          <p:nvPr/>
        </p:nvSpPr>
        <p:spPr>
          <a:xfrm>
            <a:off x="9281160" y="498348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F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alerts on breach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9F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AQUAGUARD AI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A2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one watershed to a standard layer of water infrastructure.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3172968" y="2350008"/>
            <a:ext cx="219456" cy="0"/>
          </a:xfrm>
          <a:prstGeom prst="line">
            <a:avLst/>
          </a:prstGeom>
          <a:noFill/>
          <a:ln w="19050">
            <a:solidFill>
              <a:srgbClr val="1B7A72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640080" y="1965960"/>
            <a:ext cx="2514600" cy="324612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B2B33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221992"/>
            <a:ext cx="777240" cy="365760"/>
          </a:xfrm>
          <a:prstGeom prst="roundRect">
            <a:avLst>
              <a:gd name="adj" fmla="val 50000"/>
            </a:avLst>
          </a:prstGeom>
          <a:solidFill>
            <a:srgbClr val="1B7A72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221992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4F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283464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2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Pilot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68680" y="3337560"/>
            <a:ext cx="20574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AquaGuard AI live on one watershed with a design partner; validate detection accuracy and alert quality against manual sampling.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943600" y="2350008"/>
            <a:ext cx="219456" cy="0"/>
          </a:xfrm>
          <a:prstGeom prst="line">
            <a:avLst/>
          </a:prstGeom>
          <a:noFill/>
          <a:ln w="19050">
            <a:solidFill>
              <a:srgbClr val="1B7A72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3410712" y="1965960"/>
            <a:ext cx="2514600" cy="324612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B2B33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39312" y="2221992"/>
            <a:ext cx="777240" cy="365760"/>
          </a:xfrm>
          <a:prstGeom prst="roundRect">
            <a:avLst>
              <a:gd name="adj" fmla="val 50000"/>
            </a:avLst>
          </a:prstGeom>
          <a:solidFill>
            <a:srgbClr val="1B7A72"/>
          </a:solidFill>
          <a:ln/>
        </p:spPr>
      </p:sp>
      <p:sp>
        <p:nvSpPr>
          <p:cNvPr id="13" name="Text 11"/>
          <p:cNvSpPr/>
          <p:nvPr/>
        </p:nvSpPr>
        <p:spPr>
          <a:xfrm>
            <a:off x="3639312" y="2221992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4F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39312" y="283464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2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Expand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639312" y="3337560"/>
            <a:ext cx="20574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5 sites across 2–3 partners; add more sensor types and tune the AI assessment with real incident feedback.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714232" y="2350008"/>
            <a:ext cx="219456" cy="0"/>
          </a:xfrm>
          <a:prstGeom prst="line">
            <a:avLst/>
          </a:prstGeom>
          <a:noFill/>
          <a:ln w="19050">
            <a:solidFill>
              <a:srgbClr val="1B7A72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6181344" y="1965960"/>
            <a:ext cx="2514600" cy="324612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B2B33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9944" y="2221992"/>
            <a:ext cx="777240" cy="365760"/>
          </a:xfrm>
          <a:prstGeom prst="roundRect">
            <a:avLst>
              <a:gd name="adj" fmla="val 50000"/>
            </a:avLst>
          </a:prstGeom>
          <a:solidFill>
            <a:srgbClr val="1B7A72"/>
          </a:solidFill>
          <a:ln/>
        </p:spPr>
      </p:sp>
      <p:sp>
        <p:nvSpPr>
          <p:cNvPr id="19" name="Text 17"/>
          <p:cNvSpPr/>
          <p:nvPr/>
        </p:nvSpPr>
        <p:spPr>
          <a:xfrm>
            <a:off x="6409944" y="2221992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4F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9944" y="283464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2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Certify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409944" y="3337560"/>
            <a:ext cx="20574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Pursue compliance &amp; data-handling certifications needed for municipal and government procurement.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951976" y="1965960"/>
            <a:ext cx="2514600" cy="324612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B2B33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180576" y="2221992"/>
            <a:ext cx="777240" cy="365760"/>
          </a:xfrm>
          <a:prstGeom prst="roundRect">
            <a:avLst>
              <a:gd name="adj" fmla="val 50000"/>
            </a:avLst>
          </a:prstGeom>
          <a:solidFill>
            <a:srgbClr val="1B7A72"/>
          </a:solidFill>
          <a:ln/>
        </p:spPr>
      </p:sp>
      <p:sp>
        <p:nvSpPr>
          <p:cNvPr id="24" name="Text 22"/>
          <p:cNvSpPr/>
          <p:nvPr/>
        </p:nvSpPr>
        <p:spPr>
          <a:xfrm>
            <a:off x="9180576" y="2221992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4F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180576" y="283464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2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9180576" y="3337560"/>
            <a:ext cx="20574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self-serve onboarding, launch tiered subscription pricing, and target 50+ monitored sites.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5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AQUAGUARD AI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2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-91440"/>
            <a:ext cx="3840480" cy="3840480"/>
          </a:xfrm>
          <a:prstGeom prst="ellipse">
            <a:avLst/>
          </a:prstGeom>
          <a:ln w="19050">
            <a:solidFill>
              <a:srgbClr val="2EA89D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457200"/>
            <a:ext cx="2743200" cy="2743200"/>
          </a:xfrm>
          <a:prstGeom prst="ellipse">
            <a:avLst/>
          </a:prstGeom>
          <a:ln w="19050">
            <a:solidFill>
              <a:srgbClr val="2EA89D">
                <a:alpha val="14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288036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4F8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keep the water clean.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640080" y="379476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9F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We’re presenting the new technology of </a:t>
            </a:r>
            <a:r>
              <a:rPr lang="en-US" sz="1400" dirty="0" err="1">
                <a:solidFill>
                  <a:srgbClr val="9F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NexusSpells</a:t>
            </a:r>
            <a:r>
              <a:rPr lang="en-US" sz="1400" dirty="0">
                <a:solidFill>
                  <a:srgbClr val="9F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" y="5029200"/>
            <a:ext cx="2834640" cy="594360"/>
          </a:xfrm>
          <a:prstGeom prst="roundRect">
            <a:avLst>
              <a:gd name="adj" fmla="val 50769"/>
            </a:avLst>
          </a:prstGeom>
          <a:solidFill>
            <a:srgbClr val="1B7A72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9" name="Text 6"/>
          <p:cNvSpPr/>
          <p:nvPr/>
        </p:nvSpPr>
        <p:spPr>
          <a:xfrm>
            <a:off x="640080" y="502920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 err="1">
                <a:solidFill>
                  <a:srgbClr val="F4F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AquaGuard</a:t>
            </a:r>
            <a:r>
              <a:rPr lang="en-US" sz="1300" b="1" dirty="0">
                <a:solidFill>
                  <a:srgbClr val="F4F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AI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40080" y="5989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AquaGuard AI  ·  Founding Team  ·  </a:t>
            </a:r>
            <a:r>
              <a:rPr lang="en-US" sz="1100" dirty="0" err="1">
                <a:solidFill>
                  <a:srgbClr val="9F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NexusSpells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9F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AQUAGUARD AI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72BD3DC-AA3A-2533-F3F6-64428C0D8B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541" y="1104831"/>
            <a:ext cx="1794277" cy="135033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713FA06-F2A4-34A8-644F-B42696E5CC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0019" y="769225"/>
            <a:ext cx="4816257" cy="455715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E3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A9E211-C3CF-6071-FE3E-FEB3B86D3F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92E1413-F307-9260-1A3F-192A6B51D5EC}"/>
              </a:ext>
            </a:extLst>
          </p:cNvPr>
          <p:cNvSpPr/>
          <p:nvPr/>
        </p:nvSpPr>
        <p:spPr>
          <a:xfrm>
            <a:off x="91440" y="-91440"/>
            <a:ext cx="3840480" cy="3840480"/>
          </a:xfrm>
          <a:prstGeom prst="ellipse">
            <a:avLst/>
          </a:prstGeom>
          <a:ln w="19050">
            <a:solidFill>
              <a:srgbClr val="2EA89D">
                <a:alpha val="8000"/>
              </a:srgbClr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897DAE1-69D4-0336-525E-3FA220F8F765}"/>
              </a:ext>
            </a:extLst>
          </p:cNvPr>
          <p:cNvSpPr/>
          <p:nvPr/>
        </p:nvSpPr>
        <p:spPr>
          <a:xfrm>
            <a:off x="640080" y="457200"/>
            <a:ext cx="2743200" cy="2743200"/>
          </a:xfrm>
          <a:prstGeom prst="ellipse">
            <a:avLst/>
          </a:prstGeom>
          <a:ln w="19050">
            <a:solidFill>
              <a:srgbClr val="2EA89D">
                <a:alpha val="14000"/>
              </a:srgbClr>
            </a:solidFill>
            <a:prstDash val="solid"/>
          </a:ln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6C71F60-2DB1-9569-3FE8-74345B164F66}"/>
              </a:ext>
            </a:extLst>
          </p:cNvPr>
          <p:cNvSpPr/>
          <p:nvPr/>
        </p:nvSpPr>
        <p:spPr>
          <a:xfrm>
            <a:off x="1554480" y="1371600"/>
            <a:ext cx="914400" cy="914400"/>
          </a:xfrm>
          <a:prstGeom prst="ellipse">
            <a:avLst/>
          </a:prstGeom>
          <a:solidFill>
            <a:srgbClr val="1B7A72"/>
          </a:solidFill>
          <a:ln/>
        </p:spPr>
      </p:sp>
      <p:pic>
        <p:nvPicPr>
          <p:cNvPr id="5" name="Image 0" descr="icons/droplet_F4F8F7.png">
            <a:extLst>
              <a:ext uri="{FF2B5EF4-FFF2-40B4-BE49-F238E27FC236}">
                <a16:creationId xmlns:a16="http://schemas.microsoft.com/office/drawing/2014/main" id="{95FCFB51-6A05-60D5-8423-6252A490BB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3352" y="1490472"/>
            <a:ext cx="676656" cy="676656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81525D2C-3959-E12D-7907-E768D8DCDA2B}"/>
              </a:ext>
            </a:extLst>
          </p:cNvPr>
          <p:cNvSpPr/>
          <p:nvPr/>
        </p:nvSpPr>
        <p:spPr>
          <a:xfrm>
            <a:off x="640080" y="288036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4F8F7"/>
                </a:solidFill>
                <a:latin typeface="Cambria" pitchFamily="34" charset="0"/>
                <a:ea typeface="Cambria" pitchFamily="34" charset="-122"/>
              </a:rPr>
              <a:t>Thank You</a:t>
            </a:r>
            <a:endParaRPr lang="en-US" sz="34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65190987-4747-0113-966E-C5C309D911D7}"/>
              </a:ext>
            </a:extLst>
          </p:cNvPr>
          <p:cNvSpPr/>
          <p:nvPr/>
        </p:nvSpPr>
        <p:spPr>
          <a:xfrm>
            <a:off x="640080" y="379476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2000" dirty="0">
                <a:solidFill>
                  <a:srgbClr val="9F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By-</a:t>
            </a:r>
          </a:p>
          <a:p>
            <a:pPr marL="0" indent="0">
              <a:lnSpc>
                <a:spcPts val="1900"/>
              </a:lnSpc>
              <a:buNone/>
            </a:pPr>
            <a:r>
              <a:rPr lang="en-US" sz="2000" dirty="0">
                <a:solidFill>
                  <a:srgbClr val="9F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</a:t>
            </a:r>
            <a:r>
              <a:rPr lang="en-US" sz="2000" dirty="0" err="1">
                <a:solidFill>
                  <a:srgbClr val="9F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NexusSpells</a:t>
            </a:r>
            <a:r>
              <a:rPr lang="en-US" sz="1400" dirty="0">
                <a:solidFill>
                  <a:srgbClr val="9F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54BE9C76-AF5C-EB04-B6FC-C795ACF4FC58}"/>
              </a:ext>
            </a:extLst>
          </p:cNvPr>
          <p:cNvSpPr/>
          <p:nvPr/>
        </p:nvSpPr>
        <p:spPr>
          <a:xfrm>
            <a:off x="640080" y="502920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DE0B8B4D-2A84-46F8-DFEB-3358E0A49E44}"/>
              </a:ext>
            </a:extLst>
          </p:cNvPr>
          <p:cNvSpPr/>
          <p:nvPr/>
        </p:nvSpPr>
        <p:spPr>
          <a:xfrm>
            <a:off x="640080" y="5989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AquaGuard AI  ·  Founding Team  ·  </a:t>
            </a:r>
            <a:r>
              <a:rPr lang="en-US" sz="1100" dirty="0" err="1">
                <a:solidFill>
                  <a:srgbClr val="9F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NexusSpells</a:t>
            </a:r>
            <a:endParaRPr lang="en-US" sz="110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4ED0F363-6C83-51EE-1960-5BADD41CC439}"/>
              </a:ext>
            </a:extLst>
          </p:cNvPr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9F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AQUAGUARD AI</a:t>
            </a:r>
            <a:endParaRPr lang="en-US" sz="90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816C66D3-16BE-C06E-D554-F9BCBA85636F}"/>
              </a:ext>
            </a:extLst>
          </p:cNvPr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31EFBBD-ACC9-940A-53CA-4396DD51D0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7065" y="1301776"/>
            <a:ext cx="5045655" cy="3797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88772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1313</Words>
  <Application>Microsoft Office PowerPoint</Application>
  <PresentationFormat>Widescreen</PresentationFormat>
  <Paragraphs>259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Krish Sachan</cp:lastModifiedBy>
  <cp:revision>3</cp:revision>
  <dcterms:created xsi:type="dcterms:W3CDTF">2026-07-13T08:35:44Z</dcterms:created>
  <dcterms:modified xsi:type="dcterms:W3CDTF">2026-07-13T14:15:16Z</dcterms:modified>
</cp:coreProperties>
</file>