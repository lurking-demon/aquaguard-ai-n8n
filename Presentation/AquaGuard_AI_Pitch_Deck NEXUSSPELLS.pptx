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75" r:id="rId3"/>
    <p:sldId id="276" r:id="rId4"/>
    <p:sldId id="274" r:id="rId5"/>
    <p:sldId id="257" r:id="rId6"/>
    <p:sldId id="258" r:id="rId7"/>
    <p:sldId id="271" r:id="rId8"/>
    <p:sldId id="272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3" r:id="rId20"/>
    <p:sldId id="270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7684"/>
    <a:srgbClr val="1B7A72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1484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C9B6A-34DC-E670-7E5C-286AB2F38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11E813-FDEF-08E3-864E-95C5EBA37C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4FC802-A348-AF92-9631-7D81E361A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A7427-E47D-EA62-183F-937FC2A075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129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1E25F-8BA2-0E46-C942-0175D7822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063DAE-1B9B-B2D2-FA2A-989020D8D7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B2FFB4-54C6-2BB5-8153-B39554AD5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91350-26E4-0CDC-415E-4D5E4B651E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7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EE816-A4D2-01E0-7B88-BDBDA2CB3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AB52E1-D59A-C75A-0556-43BAF9165B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5F88E4-54E8-3436-1E4C-B00BCE846C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F0186-8409-B7AB-0B76-F21B13D7F6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255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26D9F-0B27-9C87-07DF-798905819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4E2934-5530-9DA2-FD2E-F17E83B0C2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CD9DDD-EC6A-C586-CEC4-E9C483E1C0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2A753-275A-7A81-DC78-3A1A7662C9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5298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47F76-1252-F2EE-588D-EB0D7E26C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9094C3-FB6F-150F-DC3C-ED0DE2911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B13F64-A27C-4FBD-5D2B-112332984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83C6B-109E-C8B7-376F-7AB09D9997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3393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93A26-FAD9-02C2-0144-C462AEF21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6E016A-7BCA-E945-7D4C-F623A7FE6B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8A4736-8D3E-1DCA-F597-BE9681219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910B0-C619-0654-4666-8F2E42F2A7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8351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23220-72A7-FB3D-D990-7A64C5CE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F5264F-1EF4-6973-F03A-54BF365F0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7F74FD-6CEC-FA25-C486-9085441249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51B72-CB6C-768C-8B23-0E3E958F03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203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74B68A8-6A8C-5AA6-A872-610FE4E70E00}"/>
              </a:ext>
            </a:extLst>
          </p:cNvPr>
          <p:cNvSpPr txBox="1"/>
          <p:nvPr/>
        </p:nvSpPr>
        <p:spPr>
          <a:xfrm>
            <a:off x="215661" y="198408"/>
            <a:ext cx="96184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TITLE:</a:t>
            </a:r>
            <a:endParaRPr lang="en-IN" sz="3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br>
              <a:rPr lang="en-IN" sz="3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sz="3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FB650C-FADB-E4D3-E982-EFE49C2BC07A}"/>
              </a:ext>
            </a:extLst>
          </p:cNvPr>
          <p:cNvSpPr txBox="1"/>
          <p:nvPr/>
        </p:nvSpPr>
        <p:spPr>
          <a:xfrm>
            <a:off x="181155" y="1149656"/>
            <a:ext cx="1182969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Full Name : Aditya Singh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Registered Mail ID : adityasingh.pbt@gmail.com</a:t>
            </a:r>
          </a:p>
          <a:p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College Name : SRM Institute of Science and Technology, NCR-Campus, Ghaziabad</a:t>
            </a:r>
          </a:p>
          <a:p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Mob No. 8279453158</a:t>
            </a:r>
            <a:br>
              <a:rPr lang="en-IN" sz="2400" dirty="0">
                <a:solidFill>
                  <a:schemeClr val="bg1"/>
                </a:solidFill>
              </a:rPr>
            </a:b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IBM </a:t>
            </a:r>
            <a:r>
              <a:rPr lang="en-IN" sz="2400" dirty="0" err="1">
                <a:solidFill>
                  <a:schemeClr val="bg1"/>
                </a:solidFill>
              </a:rPr>
              <a:t>SkillsBuild</a:t>
            </a:r>
            <a:r>
              <a:rPr lang="en-IN" sz="2400" dirty="0">
                <a:solidFill>
                  <a:schemeClr val="bg1"/>
                </a:solidFill>
              </a:rPr>
              <a:t> platform mail ID : adityasingh.pbt@gmail.com</a:t>
            </a:r>
          </a:p>
          <a:p>
            <a:br>
              <a:rPr lang="en-IN" sz="2400" dirty="0">
                <a:solidFill>
                  <a:schemeClr val="bg1"/>
                </a:solidFill>
              </a:rPr>
            </a:br>
            <a:endParaRPr lang="en-IN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E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92C053-B354-2265-1BED-AB3E9E405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631887F-BB00-50B5-EBB2-297A8CC33386}"/>
              </a:ext>
            </a:extLst>
          </p:cNvPr>
          <p:cNvSpPr txBox="1"/>
          <p:nvPr/>
        </p:nvSpPr>
        <p:spPr>
          <a:xfrm>
            <a:off x="215661" y="198408"/>
            <a:ext cx="96184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TITLE:</a:t>
            </a:r>
            <a:endParaRPr lang="en-IN" sz="3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br>
              <a:rPr lang="en-IN" sz="3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sz="3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DBA313-92DD-3A33-8CE7-D9AD1EC3184A}"/>
              </a:ext>
            </a:extLst>
          </p:cNvPr>
          <p:cNvSpPr txBox="1"/>
          <p:nvPr/>
        </p:nvSpPr>
        <p:spPr>
          <a:xfrm>
            <a:off x="181155" y="1149656"/>
            <a:ext cx="1182969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Full Name : Krish Sachan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Registered Mail ID :krishsachan21@gmail.com</a:t>
            </a:r>
          </a:p>
          <a:p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College Name : SRM Institute of Science and Technology, NCR-Campus, Ghaziabad</a:t>
            </a:r>
          </a:p>
          <a:p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Mob No. 8318549979</a:t>
            </a:r>
            <a:br>
              <a:rPr lang="en-IN" sz="2400" dirty="0">
                <a:solidFill>
                  <a:schemeClr val="bg1"/>
                </a:solidFill>
              </a:rPr>
            </a:b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IBM </a:t>
            </a:r>
            <a:r>
              <a:rPr lang="en-IN" sz="2400" dirty="0" err="1">
                <a:solidFill>
                  <a:schemeClr val="bg1"/>
                </a:solidFill>
              </a:rPr>
              <a:t>SkillsBuild</a:t>
            </a:r>
            <a:r>
              <a:rPr lang="en-IN" sz="2400" dirty="0">
                <a:solidFill>
                  <a:schemeClr val="bg1"/>
                </a:solidFill>
              </a:rPr>
              <a:t> platform mail ID : krishsachan21@gmail.com</a:t>
            </a:r>
          </a:p>
          <a:p>
            <a:br>
              <a:rPr lang="en-IN" sz="2400" dirty="0">
                <a:solidFill>
                  <a:schemeClr val="bg1"/>
                </a:solidFill>
              </a:rPr>
            </a:br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3729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E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34C441-CB34-D97B-3592-DDF2AFF1C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598DCCE-1A7A-FFB7-8DB2-89443C48845B}"/>
              </a:ext>
            </a:extLst>
          </p:cNvPr>
          <p:cNvSpPr txBox="1"/>
          <p:nvPr/>
        </p:nvSpPr>
        <p:spPr>
          <a:xfrm>
            <a:off x="215661" y="198408"/>
            <a:ext cx="96184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TITLE:</a:t>
            </a:r>
            <a:endParaRPr lang="en-IN" sz="3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br>
              <a:rPr lang="en-IN" sz="3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sz="3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50F5B7-9139-2F40-FDFF-16DAAA677FF3}"/>
              </a:ext>
            </a:extLst>
          </p:cNvPr>
          <p:cNvSpPr txBox="1"/>
          <p:nvPr/>
        </p:nvSpPr>
        <p:spPr>
          <a:xfrm>
            <a:off x="181155" y="1149656"/>
            <a:ext cx="1182969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Full Name : Ayushmaan Singh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Registered Mail ID :ayushmaan02803@gmail.com</a:t>
            </a:r>
          </a:p>
          <a:p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College Name : SRM Institute of Science and Technology, NCR-Campus, Ghaziabad</a:t>
            </a:r>
          </a:p>
          <a:p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Mob No. 9798406789</a:t>
            </a:r>
            <a:br>
              <a:rPr lang="en-IN" sz="2400" dirty="0">
                <a:solidFill>
                  <a:schemeClr val="bg1"/>
                </a:solidFill>
              </a:rPr>
            </a:b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IBM </a:t>
            </a:r>
            <a:r>
              <a:rPr lang="en-IN" sz="2400" dirty="0" err="1">
                <a:solidFill>
                  <a:schemeClr val="bg1"/>
                </a:solidFill>
              </a:rPr>
              <a:t>SkillsBuild</a:t>
            </a:r>
            <a:r>
              <a:rPr lang="en-IN" sz="2400" dirty="0">
                <a:solidFill>
                  <a:schemeClr val="bg1"/>
                </a:solidFill>
              </a:rPr>
              <a:t> platform mail ID :ayushmaan02803@gmail.com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br>
              <a:rPr lang="en-IN" sz="2400" dirty="0">
                <a:solidFill>
                  <a:schemeClr val="bg1"/>
                </a:solidFill>
              </a:rPr>
            </a:br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681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E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A3DEBE-AB6F-BC2C-3A76-253B61AB9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6F89811-2858-FAAB-83E7-F2ED1F1FD7C4}"/>
              </a:ext>
            </a:extLst>
          </p:cNvPr>
          <p:cNvSpPr/>
          <p:nvPr/>
        </p:nvSpPr>
        <p:spPr>
          <a:xfrm>
            <a:off x="6949440" y="685800"/>
            <a:ext cx="5486400" cy="5486400"/>
          </a:xfrm>
          <a:prstGeom prst="ellipse">
            <a:avLst/>
          </a:prstGeom>
          <a:ln w="19050">
            <a:solidFill>
              <a:srgbClr val="2EA89D">
                <a:alpha val="600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6494F75-33A9-4999-E73D-53A2EBACC669}"/>
              </a:ext>
            </a:extLst>
          </p:cNvPr>
          <p:cNvSpPr/>
          <p:nvPr/>
        </p:nvSpPr>
        <p:spPr>
          <a:xfrm>
            <a:off x="7543800" y="1280160"/>
            <a:ext cx="4297680" cy="4297680"/>
          </a:xfrm>
          <a:prstGeom prst="ellipse">
            <a:avLst/>
          </a:prstGeom>
          <a:ln w="19050">
            <a:solidFill>
              <a:srgbClr val="2EA89D">
                <a:alpha val="900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E3EA125-06C4-1C3C-7523-971BF1E57451}"/>
              </a:ext>
            </a:extLst>
          </p:cNvPr>
          <p:cNvSpPr/>
          <p:nvPr/>
        </p:nvSpPr>
        <p:spPr>
          <a:xfrm>
            <a:off x="8138160" y="1874520"/>
            <a:ext cx="3108960" cy="3108960"/>
          </a:xfrm>
          <a:prstGeom prst="ellipse">
            <a:avLst/>
          </a:prstGeom>
          <a:ln w="19050">
            <a:solidFill>
              <a:srgbClr val="2EA89D">
                <a:alpha val="14000"/>
              </a:srgbClr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47536C2-4C71-5E3C-BF86-26BA6802023C}"/>
              </a:ext>
            </a:extLst>
          </p:cNvPr>
          <p:cNvSpPr/>
          <p:nvPr/>
        </p:nvSpPr>
        <p:spPr>
          <a:xfrm>
            <a:off x="8732520" y="2468880"/>
            <a:ext cx="1920240" cy="1920240"/>
          </a:xfrm>
          <a:prstGeom prst="ellipse">
            <a:avLst/>
          </a:prstGeom>
          <a:ln w="19050">
            <a:solidFill>
              <a:srgbClr val="2EA89D">
                <a:alpha val="22000"/>
              </a:srgbClr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CB50F08-1485-FC41-2351-7EDAF0DD8046}"/>
              </a:ext>
            </a:extLst>
          </p:cNvPr>
          <p:cNvSpPr/>
          <p:nvPr/>
        </p:nvSpPr>
        <p:spPr>
          <a:xfrm>
            <a:off x="9189720" y="2926080"/>
            <a:ext cx="1005840" cy="1005840"/>
          </a:xfrm>
          <a:prstGeom prst="ellipse">
            <a:avLst/>
          </a:prstGeom>
          <a:solidFill>
            <a:srgbClr val="1B7A72"/>
          </a:solidFill>
          <a:ln/>
        </p:spPr>
      </p:sp>
      <p:pic>
        <p:nvPicPr>
          <p:cNvPr id="7" name="Image 0" descr="icons/droplet_F4F8F7.png">
            <a:extLst>
              <a:ext uri="{FF2B5EF4-FFF2-40B4-BE49-F238E27FC236}">
                <a16:creationId xmlns:a16="http://schemas.microsoft.com/office/drawing/2014/main" id="{4BE13DA5-AFC7-A1FB-A976-6D487A215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0479" y="3056839"/>
            <a:ext cx="744322" cy="744322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48AAB2F0-3A76-DFA1-DC58-57EAEB19ABE4}"/>
              </a:ext>
            </a:extLst>
          </p:cNvPr>
          <p:cNvSpPr/>
          <p:nvPr/>
        </p:nvSpPr>
        <p:spPr>
          <a:xfrm>
            <a:off x="64008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E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</a:t>
            </a:r>
            <a:endParaRPr lang="en-US" sz="1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0181984-8771-1234-D6AE-83FBAB934D72}"/>
              </a:ext>
            </a:extLst>
          </p:cNvPr>
          <p:cNvSpPr/>
          <p:nvPr/>
        </p:nvSpPr>
        <p:spPr>
          <a:xfrm>
            <a:off x="640080" y="274320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pollution doesn't wait for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lab report.</a:t>
            </a:r>
            <a:endParaRPr lang="en-US" sz="40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4D262E9-FF0F-2172-F925-52423AD9435A}"/>
              </a:ext>
            </a:extLst>
          </p:cNvPr>
          <p:cNvSpPr/>
          <p:nvPr/>
        </p:nvSpPr>
        <p:spPr>
          <a:xfrm>
            <a:off x="640080" y="443484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always-on monitoring agent that reads live water-quality data, tells authorities exactly what's wrong, and does it within minutes of a breach.</a:t>
            </a:r>
            <a:endParaRPr lang="en-US" sz="14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E45B120-38E4-F1FA-889A-61C503D87524}"/>
              </a:ext>
            </a:extLst>
          </p:cNvPr>
          <p:cNvSpPr/>
          <p:nvPr/>
        </p:nvSpPr>
        <p:spPr>
          <a:xfrm>
            <a:off x="64008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&amp; Partner Briefing   ·   AquaGuard AI Founding Team   ·   2026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717269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88720" y="1920240"/>
            <a:ext cx="4709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</a:t>
            </a:r>
            <a:r>
              <a:rPr lang="en-US" sz="1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pollution detection is too slow today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263640" y="192024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12280" y="1920240"/>
            <a:ext cx="4709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r>
              <a:rPr lang="en-US" sz="1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 on aquatic life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487168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487168"/>
            <a:ext cx="4709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  </a:t>
            </a:r>
            <a:r>
              <a:rPr lang="en-US" sz="1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cost of delay 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63640" y="2487168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12280" y="2487168"/>
            <a:ext cx="4709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  </a:t>
            </a:r>
            <a:r>
              <a:rPr lang="en-US" sz="1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 and shape of the demand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3054096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3054096"/>
            <a:ext cx="4709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 </a:t>
            </a:r>
            <a:r>
              <a:rPr lang="en-US" sz="1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</a:t>
            </a:r>
            <a:r>
              <a:rPr lang="en-US" sz="1200" dirty="0" err="1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</a:t>
            </a:r>
            <a:r>
              <a:rPr lang="en-US" sz="1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does differently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63640" y="3054096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12280" y="3054096"/>
            <a:ext cx="4709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 </a:t>
            </a:r>
            <a:r>
              <a:rPr lang="en-US" sz="1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detection-to-alert pipeline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3621024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3621024"/>
            <a:ext cx="4709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Snapshot  </a:t>
            </a:r>
            <a:r>
              <a:rPr lang="en-US" sz="1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authority actually receives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63640" y="3621024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12280" y="3621024"/>
            <a:ext cx="4709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  </a:t>
            </a:r>
            <a:r>
              <a:rPr lang="en-US" sz="1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sit verses alternatives  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4187952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88720" y="4187952"/>
            <a:ext cx="4709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&amp; Early Adopters  </a:t>
            </a:r>
            <a:r>
              <a:rPr lang="en-US" sz="1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 first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63640" y="4187952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12280" y="4187952"/>
            <a:ext cx="4709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 </a:t>
            </a:r>
            <a:r>
              <a:rPr lang="en-US" sz="1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How </a:t>
            </a:r>
            <a:r>
              <a:rPr lang="en-US" sz="1200" dirty="0" err="1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</a:t>
            </a:r>
            <a:r>
              <a:rPr lang="en-US" sz="1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makes money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475488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88720" y="4754880"/>
            <a:ext cx="4709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</a:t>
            </a:r>
            <a:r>
              <a:rPr lang="en-US" sz="1350" b="1" dirty="0" err="1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</a:t>
            </a:r>
            <a:r>
              <a:rPr lang="en-US" sz="1350" b="1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advantage and key metrics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052C19-C662-8B1D-24E6-E8E8DC5461CC}"/>
              </a:ext>
            </a:extLst>
          </p:cNvPr>
          <p:cNvSpPr txBox="1"/>
          <p:nvPr/>
        </p:nvSpPr>
        <p:spPr>
          <a:xfrm>
            <a:off x="6263640" y="4852737"/>
            <a:ext cx="54864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>
                <a:solidFill>
                  <a:srgbClr val="1B7A7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54F622-70EB-6365-C77A-37429CE0FEA3}"/>
              </a:ext>
            </a:extLst>
          </p:cNvPr>
          <p:cNvSpPr txBox="1"/>
          <p:nvPr/>
        </p:nvSpPr>
        <p:spPr>
          <a:xfrm>
            <a:off x="6812280" y="4754880"/>
            <a:ext cx="4343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b="1" dirty="0">
                <a:ea typeface="Cambria" panose="02040503050406030204" pitchFamily="18" charset="0"/>
              </a:rPr>
              <a:t>Roadmap</a:t>
            </a:r>
            <a:r>
              <a:rPr lang="en-IN" dirty="0"/>
              <a:t> </a:t>
            </a:r>
            <a:r>
              <a:rPr lang="en-IN" sz="1200" dirty="0">
                <a:solidFill>
                  <a:srgbClr val="5B7684"/>
                </a:solidFill>
              </a:rPr>
              <a:t>The path from pilot to scale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5CA8CD-F22C-A983-EC1E-079784A61546}"/>
              </a:ext>
            </a:extLst>
          </p:cNvPr>
          <p:cNvSpPr txBox="1"/>
          <p:nvPr/>
        </p:nvSpPr>
        <p:spPr>
          <a:xfrm>
            <a:off x="640080" y="5407114"/>
            <a:ext cx="50292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>
                <a:solidFill>
                  <a:srgbClr val="1B7A7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8D29D92-400D-CC09-F896-9A2090C158B1}"/>
              </a:ext>
            </a:extLst>
          </p:cNvPr>
          <p:cNvSpPr txBox="1"/>
          <p:nvPr/>
        </p:nvSpPr>
        <p:spPr>
          <a:xfrm>
            <a:off x="1188720" y="5407114"/>
            <a:ext cx="382443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b="1" dirty="0"/>
              <a:t>The Ask </a:t>
            </a:r>
            <a:r>
              <a:rPr lang="en-IN" sz="1200" dirty="0">
                <a:solidFill>
                  <a:srgbClr val="5B7684"/>
                </a:solidFill>
              </a:rPr>
              <a:t>How we would like to work together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Contamination is found late — after it's already spread.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B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31720"/>
            <a:ext cx="685800" cy="685800"/>
          </a:xfrm>
          <a:prstGeom prst="ellipse">
            <a:avLst/>
          </a:prstGeom>
          <a:solidFill>
            <a:srgbClr val="1B7A72"/>
          </a:solidFill>
          <a:ln/>
        </p:spPr>
      </p:sp>
      <p:pic>
        <p:nvPicPr>
          <p:cNvPr id="6" name="Image 0" descr="icons/clock_F4F8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274" y="2420874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2004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lags reality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361188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discharge, runoff, and sewage leaks often go unnoticed for hours or days before anyone checks the water.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96596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B33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331720"/>
            <a:ext cx="685800" cy="685800"/>
          </a:xfrm>
          <a:prstGeom prst="ellipse">
            <a:avLst/>
          </a:prstGeom>
          <a:solidFill>
            <a:srgbClr val="1B7A72"/>
          </a:solidFill>
          <a:ln/>
        </p:spPr>
      </p:sp>
      <p:pic>
        <p:nvPicPr>
          <p:cNvPr id="11" name="Image 1" descr="icons/users_F4F8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8314" y="2420874"/>
            <a:ext cx="507492" cy="5074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2004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is manual &amp; rare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09160" y="361188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sampling needs trained staff and equipment, so most sites are only checked weekly — or less.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B33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2331720"/>
            <a:ext cx="685800" cy="685800"/>
          </a:xfrm>
          <a:prstGeom prst="ellipse">
            <a:avLst/>
          </a:prstGeom>
          <a:solidFill>
            <a:srgbClr val="1B7A72"/>
          </a:solidFill>
          <a:ln/>
        </p:spPr>
      </p:sp>
      <p:pic>
        <p:nvPicPr>
          <p:cNvPr id="16" name="Image 2" descr="icons/alert_F4F8F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7354" y="2420874"/>
            <a:ext cx="507492" cy="5074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2004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is reactive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58200" y="361188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 typically hear about a problem only after fish kills, odor complaints, or visible damage appear.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0080" y="5623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alternatives: manual lab sampling  ·  static IoT dashboards nobody watches live  ·  waiting for public complaints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22F145-EB97-76F5-0A16-D92EFD4DD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1FD4959-7EEB-E239-716B-3B55F4EA6FA7}"/>
              </a:ext>
            </a:extLst>
          </p:cNvPr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9E23F4D-51E3-B00E-0DE4-6D786BB0B444}"/>
              </a:ext>
            </a:extLst>
          </p:cNvPr>
          <p:cNvSpPr/>
          <p:nvPr/>
        </p:nvSpPr>
        <p:spPr>
          <a:xfrm>
            <a:off x="640080" y="7772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5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</a:rPr>
              <a:t>Impact on Aquatic Life</a:t>
            </a:r>
            <a:endParaRPr lang="en-US" sz="2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A66195F-C84D-4882-0BB4-3C6FC548FA65}"/>
              </a:ext>
            </a:extLst>
          </p:cNvPr>
          <p:cNvSpPr/>
          <p:nvPr/>
        </p:nvSpPr>
        <p:spPr>
          <a:xfrm>
            <a:off x="3172967" y="2350008"/>
            <a:ext cx="4894127" cy="0"/>
          </a:xfrm>
          <a:prstGeom prst="line">
            <a:avLst/>
          </a:prstGeom>
          <a:noFill/>
          <a:ln w="19050">
            <a:solidFill>
              <a:srgbClr val="1B7A72"/>
            </a:solidFill>
            <a:prstDash val="dash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1E75EDD-995A-A43A-EC75-DBB8BC5F6B91}"/>
              </a:ext>
            </a:extLst>
          </p:cNvPr>
          <p:cNvSpPr/>
          <p:nvPr/>
        </p:nvSpPr>
        <p:spPr>
          <a:xfrm>
            <a:off x="640080" y="196596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B33">
                <a:alpha val="15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3FCCFDE-7259-4C3E-329B-6740E393D64D}"/>
              </a:ext>
            </a:extLst>
          </p:cNvPr>
          <p:cNvSpPr/>
          <p:nvPr/>
        </p:nvSpPr>
        <p:spPr>
          <a:xfrm>
            <a:off x="868680" y="2221992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1B7A72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0BB3B30-E5AE-AC0A-A54D-3A6F103F83EB}"/>
              </a:ext>
            </a:extLst>
          </p:cNvPr>
          <p:cNvSpPr/>
          <p:nvPr/>
        </p:nvSpPr>
        <p:spPr>
          <a:xfrm>
            <a:off x="868680" y="22219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5D47997-0CB0-A912-A6A8-349318EA9BE9}"/>
              </a:ext>
            </a:extLst>
          </p:cNvPr>
          <p:cNvSpPr/>
          <p:nvPr/>
        </p:nvSpPr>
        <p:spPr>
          <a:xfrm>
            <a:off x="868680" y="28346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BD8F7B1-EBB3-7D40-58AA-96126ABE71B1}"/>
              </a:ext>
            </a:extLst>
          </p:cNvPr>
          <p:cNvSpPr/>
          <p:nvPr/>
        </p:nvSpPr>
        <p:spPr>
          <a:xfrm>
            <a:off x="868680" y="3337560"/>
            <a:ext cx="2057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500"/>
              </a:lnSpc>
            </a:pPr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Undetected organic spikes plunge dissolved oxygen below critical </a:t>
            </a:r>
            <a:r>
              <a:rPr lang="en-IN" sz="1200" dirty="0">
                <a:solidFill>
                  <a:schemeClr val="accent3">
                    <a:lumMod val="50000"/>
                  </a:schemeClr>
                </a:solidFill>
              </a:rPr>
              <a:t>thresholds</a:t>
            </a:r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 (&lt; 4 mg/L). Fish suffer acute gill stress, triggering mass suffocation events within hours.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8793633-B895-420D-947B-D164FB8FDC50}"/>
              </a:ext>
            </a:extLst>
          </p:cNvPr>
          <p:cNvSpPr/>
          <p:nvPr/>
        </p:nvSpPr>
        <p:spPr>
          <a:xfrm>
            <a:off x="5943600" y="2350008"/>
            <a:ext cx="219456" cy="0"/>
          </a:xfrm>
          <a:prstGeom prst="line">
            <a:avLst/>
          </a:prstGeom>
          <a:noFill/>
          <a:ln w="19050">
            <a:solidFill>
              <a:srgbClr val="1B7A72"/>
            </a:solidFill>
            <a:prstDash val="dash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388B472-6C44-ACB6-0214-73D480059DB6}"/>
              </a:ext>
            </a:extLst>
          </p:cNvPr>
          <p:cNvSpPr/>
          <p:nvPr/>
        </p:nvSpPr>
        <p:spPr>
          <a:xfrm>
            <a:off x="4397221" y="1943101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B33">
                <a:alpha val="15000"/>
              </a:srgbClr>
            </a:outerShdw>
          </a:effectLst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3FB2152-0F6B-4A3D-2730-A2C103A99A4F}"/>
              </a:ext>
            </a:extLst>
          </p:cNvPr>
          <p:cNvSpPr/>
          <p:nvPr/>
        </p:nvSpPr>
        <p:spPr>
          <a:xfrm>
            <a:off x="4759452" y="2162556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1B7A72"/>
          </a:solidFill>
          <a:ln/>
        </p:spPr>
        <p:txBody>
          <a:bodyPr/>
          <a:lstStyle/>
          <a:p>
            <a:pPr algn="ctr"/>
            <a:r>
              <a:rPr lang="en-IN" sz="11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9291F42-86C1-7550-AEBE-1D1838771473}"/>
              </a:ext>
            </a:extLst>
          </p:cNvPr>
          <p:cNvSpPr/>
          <p:nvPr/>
        </p:nvSpPr>
        <p:spPr>
          <a:xfrm>
            <a:off x="3639312" y="22219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C74D189-A0EA-EEB3-4DE2-644DF1440567}"/>
              </a:ext>
            </a:extLst>
          </p:cNvPr>
          <p:cNvSpPr/>
          <p:nvPr/>
        </p:nvSpPr>
        <p:spPr>
          <a:xfrm>
            <a:off x="4656782" y="2720337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</a:rPr>
              <a:t>Gill Clogging</a:t>
            </a:r>
            <a:endParaRPr lang="en-US" sz="17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3532CC5-4D4D-528C-B568-FA831D95B0EF}"/>
              </a:ext>
            </a:extLst>
          </p:cNvPr>
          <p:cNvSpPr/>
          <p:nvPr/>
        </p:nvSpPr>
        <p:spPr>
          <a:xfrm>
            <a:off x="4656782" y="3177537"/>
            <a:ext cx="2057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500"/>
              </a:lnSpc>
            </a:pPr>
            <a:r>
              <a:rPr lang="en-IN" sz="1200" dirty="0">
                <a:solidFill>
                  <a:schemeClr val="accent3">
                    <a:lumMod val="50000"/>
                  </a:schemeClr>
                </a:solidFill>
              </a:rPr>
              <a:t>Runoff and waste elevate turbidity past 50 NTU. Suspended sediment physically scrapes respiratory membranes and blocks essential sunlight for underwater plants.</a:t>
            </a:r>
            <a:r>
              <a:rPr lang="en-US" sz="1150" dirty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D4718E1-0334-E9C6-FC24-A650C31BBA38}"/>
              </a:ext>
            </a:extLst>
          </p:cNvPr>
          <p:cNvSpPr/>
          <p:nvPr/>
        </p:nvSpPr>
        <p:spPr>
          <a:xfrm>
            <a:off x="8714232" y="2350008"/>
            <a:ext cx="219456" cy="0"/>
          </a:xfrm>
          <a:prstGeom prst="line">
            <a:avLst/>
          </a:prstGeom>
          <a:noFill/>
          <a:ln w="19050">
            <a:solidFill>
              <a:srgbClr val="1B7A72"/>
            </a:solidFill>
            <a:prstDash val="dash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065F22C-0C7D-99E3-7CB3-EDE4FE6ADC10}"/>
              </a:ext>
            </a:extLst>
          </p:cNvPr>
          <p:cNvSpPr/>
          <p:nvPr/>
        </p:nvSpPr>
        <p:spPr>
          <a:xfrm>
            <a:off x="8090354" y="196596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B33">
                <a:alpha val="15000"/>
              </a:srgbClr>
            </a:outerShdw>
          </a:effectLst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1CBAC7D-2930-EF19-8B4A-93A670724BF8}"/>
              </a:ext>
            </a:extLst>
          </p:cNvPr>
          <p:cNvSpPr/>
          <p:nvPr/>
        </p:nvSpPr>
        <p:spPr>
          <a:xfrm>
            <a:off x="8325612" y="2221992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1B7A72"/>
          </a:solidFill>
          <a:ln/>
        </p:spPr>
        <p:txBody>
          <a:bodyPr/>
          <a:lstStyle/>
          <a:p>
            <a:pPr algn="ctr"/>
            <a:r>
              <a:rPr lang="en-IN" sz="11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2962F60-BF71-E39C-589C-659C340B9F1B}"/>
              </a:ext>
            </a:extLst>
          </p:cNvPr>
          <p:cNvSpPr/>
          <p:nvPr/>
        </p:nvSpPr>
        <p:spPr>
          <a:xfrm>
            <a:off x="6409944" y="22219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A035EA8-D1BE-E3B7-51CD-F68694E6F064}"/>
              </a:ext>
            </a:extLst>
          </p:cNvPr>
          <p:cNvSpPr/>
          <p:nvPr/>
        </p:nvSpPr>
        <p:spPr>
          <a:xfrm>
            <a:off x="8318954" y="2797743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</a:rPr>
              <a:t>Acidification &amp; </a:t>
            </a:r>
            <a:r>
              <a:rPr lang="en-US" sz="1700" b="1" dirty="0" err="1">
                <a:solidFill>
                  <a:srgbClr val="0A2E3D"/>
                </a:solidFill>
                <a:latin typeface="Cambria" pitchFamily="34" charset="0"/>
                <a:ea typeface="Cambria" pitchFamily="34" charset="-122"/>
              </a:rPr>
              <a:t>ph</a:t>
            </a:r>
            <a:endParaRPr lang="en-US" sz="17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BC0BDC2-A1D9-9811-4345-C53BD44C5E15}"/>
              </a:ext>
            </a:extLst>
          </p:cNvPr>
          <p:cNvSpPr/>
          <p:nvPr/>
        </p:nvSpPr>
        <p:spPr>
          <a:xfrm>
            <a:off x="8318954" y="3322320"/>
            <a:ext cx="2057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500"/>
              </a:lnSpc>
            </a:pPr>
            <a:r>
              <a:rPr lang="en-IN" sz="1200" dirty="0">
                <a:solidFill>
                  <a:schemeClr val="accent3">
                    <a:lumMod val="50000"/>
                  </a:schemeClr>
                </a:solidFill>
              </a:rPr>
              <a:t>Chemical dumps create rapid pH shifts. Severe drops below 5.5 strip protective mucus coatings from fish skins, destroy egg clusters, and dissolve </a:t>
            </a:r>
            <a:r>
              <a:rPr lang="en-IN" sz="1200" dirty="0" err="1">
                <a:solidFill>
                  <a:schemeClr val="accent3">
                    <a:lumMod val="50000"/>
                  </a:schemeClr>
                </a:solidFill>
              </a:rPr>
              <a:t>mollusk</a:t>
            </a:r>
            <a:r>
              <a:rPr lang="en-IN" sz="1200" dirty="0">
                <a:solidFill>
                  <a:schemeClr val="accent3">
                    <a:lumMod val="50000"/>
                  </a:schemeClr>
                </a:solidFill>
              </a:rPr>
              <a:t> shells.</a:t>
            </a:r>
            <a:endParaRPr lang="en-US" sz="115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C7271FB-92DF-DB38-243C-33DD3453006A}"/>
              </a:ext>
            </a:extLst>
          </p:cNvPr>
          <p:cNvSpPr/>
          <p:nvPr/>
        </p:nvSpPr>
        <p:spPr>
          <a:xfrm>
            <a:off x="9180576" y="22219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1922879-72A2-56A6-A3EF-6170CC4BE239}"/>
              </a:ext>
            </a:extLst>
          </p:cNvPr>
          <p:cNvSpPr/>
          <p:nvPr/>
        </p:nvSpPr>
        <p:spPr>
          <a:xfrm>
            <a:off x="9180576" y="28346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198F0F6-BDCB-0578-8AA1-1E0D24690CCD}"/>
              </a:ext>
            </a:extLst>
          </p:cNvPr>
          <p:cNvSpPr/>
          <p:nvPr/>
        </p:nvSpPr>
        <p:spPr>
          <a:xfrm>
            <a:off x="9180576" y="3337560"/>
            <a:ext cx="2057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endParaRPr lang="en-US" sz="115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7E9E06A-8296-22C8-5CD0-B30A15C59F31}"/>
              </a:ext>
            </a:extLst>
          </p:cNvPr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</a:t>
            </a:r>
            <a:endParaRPr lang="en-US" sz="9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69D8181-9F00-3095-6A21-C424A649F396}"/>
              </a:ext>
            </a:extLst>
          </p:cNvPr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187520-A196-4848-9025-A02A15CDFB55}"/>
              </a:ext>
            </a:extLst>
          </p:cNvPr>
          <p:cNvSpPr txBox="1"/>
          <p:nvPr/>
        </p:nvSpPr>
        <p:spPr>
          <a:xfrm>
            <a:off x="850393" y="2808010"/>
            <a:ext cx="20574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00" b="1" dirty="0">
                <a:latin typeface="Cambria" panose="02040503050406030204" pitchFamily="18" charset="0"/>
                <a:ea typeface="Cambria" panose="02040503050406030204" pitchFamily="18" charset="0"/>
              </a:rPr>
              <a:t>Oxygen Starvation</a:t>
            </a:r>
          </a:p>
        </p:txBody>
      </p:sp>
    </p:spTree>
    <p:extLst>
      <p:ext uri="{BB962C8B-B14F-4D97-AF65-F5344CB8AC3E}">
        <p14:creationId xmlns:p14="http://schemas.microsoft.com/office/powerpoint/2010/main" val="872292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E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665671-7CEA-A9F5-219D-FA19BD992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2B715F0-972A-5E14-5AED-3CB77FADB0B9}"/>
              </a:ext>
            </a:extLst>
          </p:cNvPr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90FC909-30FB-8F49-4F93-C7ECE256D9A5}"/>
              </a:ext>
            </a:extLst>
          </p:cNvPr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of delay could be catastrophic.</a:t>
            </a:r>
            <a:endParaRPr lang="en-US" sz="27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5B19BA0-8C00-0BDE-5CA0-68A373B44C7E}"/>
              </a:ext>
            </a:extLst>
          </p:cNvPr>
          <p:cNvSpPr/>
          <p:nvPr/>
        </p:nvSpPr>
        <p:spPr>
          <a:xfrm>
            <a:off x="3172968" y="2651760"/>
            <a:ext cx="219456" cy="0"/>
          </a:xfrm>
          <a:prstGeom prst="line">
            <a:avLst/>
          </a:prstGeom>
          <a:noFill/>
          <a:ln w="19050">
            <a:solidFill>
              <a:srgbClr val="2EA89D"/>
            </a:solidFill>
            <a:prstDash val="dash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E3053D7-8DE4-32D6-5BF4-D1E37ED01670}"/>
              </a:ext>
            </a:extLst>
          </p:cNvPr>
          <p:cNvSpPr/>
          <p:nvPr/>
        </p:nvSpPr>
        <p:spPr>
          <a:xfrm>
            <a:off x="640080" y="2148839"/>
            <a:ext cx="2514600" cy="3120981"/>
          </a:xfrm>
          <a:prstGeom prst="roundRect">
            <a:avLst>
              <a:gd name="adj" fmla="val 2909"/>
            </a:avLst>
          </a:prstGeom>
          <a:solidFill>
            <a:srgbClr val="0F3A4B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F3E31F4-6E84-AA3F-2FD5-39EEEB2E185D}"/>
              </a:ext>
            </a:extLst>
          </p:cNvPr>
          <p:cNvSpPr/>
          <p:nvPr/>
        </p:nvSpPr>
        <p:spPr>
          <a:xfrm>
            <a:off x="1485900" y="2468880"/>
            <a:ext cx="822960" cy="822960"/>
          </a:xfrm>
          <a:prstGeom prst="ellipse">
            <a:avLst/>
          </a:prstGeom>
          <a:solidFill>
            <a:srgbClr val="2EA89D"/>
          </a:solidFill>
          <a:ln/>
        </p:spPr>
      </p:sp>
      <p:pic>
        <p:nvPicPr>
          <p:cNvPr id="7" name="Image 0" descr="icons/clock_0A2E3D.png">
            <a:extLst>
              <a:ext uri="{FF2B5EF4-FFF2-40B4-BE49-F238E27FC236}">
                <a16:creationId xmlns:a16="http://schemas.microsoft.com/office/drawing/2014/main" id="{6FAF99CF-68C7-A89B-3C1C-B5E581A2B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885" y="2575865"/>
            <a:ext cx="608990" cy="60899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48C0A41A-766B-08C3-4E32-E92F65A7888A}"/>
              </a:ext>
            </a:extLst>
          </p:cNvPr>
          <p:cNvSpPr/>
          <p:nvPr/>
        </p:nvSpPr>
        <p:spPr>
          <a:xfrm>
            <a:off x="822960" y="23134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3B1A926-BD01-F8EA-6010-58B5AB654603}"/>
              </a:ext>
            </a:extLst>
          </p:cNvPr>
          <p:cNvSpPr/>
          <p:nvPr/>
        </p:nvSpPr>
        <p:spPr>
          <a:xfrm>
            <a:off x="868680" y="34747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</a:rPr>
              <a:t>Hour 0-4</a:t>
            </a:r>
            <a:endParaRPr lang="en-US" sz="15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E96A9DC-A41B-4208-6756-0C4A56AD1773}"/>
              </a:ext>
            </a:extLst>
          </p:cNvPr>
          <p:cNvSpPr/>
          <p:nvPr/>
        </p:nvSpPr>
        <p:spPr>
          <a:xfrm>
            <a:off x="868680" y="3977640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500"/>
              </a:lnSpc>
            </a:pPr>
            <a:r>
              <a:rPr lang="en-IN" sz="1100" b="1" dirty="0">
                <a:solidFill>
                  <a:schemeClr val="bg1"/>
                </a:solidFill>
              </a:rPr>
              <a:t>Silent Dispersion </a:t>
            </a:r>
          </a:p>
          <a:p>
            <a:pPr>
              <a:lnSpc>
                <a:spcPts val="1500"/>
              </a:lnSpc>
            </a:pPr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Toxins disperse rapidly downstream. Plume expands without visual signs. Alerts remain silent.</a:t>
            </a:r>
            <a:endParaRPr lang="en-US" sz="11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5FCD2662-B32B-0F9A-0BF8-4E48D418555D}"/>
              </a:ext>
            </a:extLst>
          </p:cNvPr>
          <p:cNvSpPr/>
          <p:nvPr/>
        </p:nvSpPr>
        <p:spPr>
          <a:xfrm>
            <a:off x="5943600" y="2651760"/>
            <a:ext cx="219456" cy="0"/>
          </a:xfrm>
          <a:prstGeom prst="line">
            <a:avLst/>
          </a:prstGeom>
          <a:noFill/>
          <a:ln w="19050">
            <a:solidFill>
              <a:srgbClr val="2EA89D"/>
            </a:solidFill>
            <a:prstDash val="dash"/>
          </a:ln>
        </p:spPr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B0B3BCB9-911B-58A5-E72F-9627F29AA3B6}"/>
              </a:ext>
            </a:extLst>
          </p:cNvPr>
          <p:cNvSpPr/>
          <p:nvPr/>
        </p:nvSpPr>
        <p:spPr>
          <a:xfrm>
            <a:off x="3410712" y="2148839"/>
            <a:ext cx="2514600" cy="3120989"/>
          </a:xfrm>
          <a:prstGeom prst="roundRect">
            <a:avLst>
              <a:gd name="adj" fmla="val 2909"/>
            </a:avLst>
          </a:prstGeom>
          <a:solidFill>
            <a:srgbClr val="0F3A4B"/>
          </a:solidFill>
          <a:ln/>
        </p:spPr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25DAD67A-6661-8205-C153-382315D92AEB}"/>
              </a:ext>
            </a:extLst>
          </p:cNvPr>
          <p:cNvSpPr/>
          <p:nvPr/>
        </p:nvSpPr>
        <p:spPr>
          <a:xfrm>
            <a:off x="4256532" y="2468880"/>
            <a:ext cx="822960" cy="822960"/>
          </a:xfrm>
          <a:prstGeom prst="ellipse">
            <a:avLst/>
          </a:prstGeom>
          <a:solidFill>
            <a:srgbClr val="2EA89D"/>
          </a:solidFill>
          <a:ln/>
        </p:spPr>
      </p:sp>
      <p:pic>
        <p:nvPicPr>
          <p:cNvPr id="14" name="Image 1" descr="icons/activity_0A2E3D.png">
            <a:extLst>
              <a:ext uri="{FF2B5EF4-FFF2-40B4-BE49-F238E27FC236}">
                <a16:creationId xmlns:a16="http://schemas.microsoft.com/office/drawing/2014/main" id="{E29A5885-751B-1CF5-143E-945FD687CF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517" y="2575865"/>
            <a:ext cx="608990" cy="608990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A87A2C4C-DCDB-EF63-F7E0-AA53EEDAD91C}"/>
              </a:ext>
            </a:extLst>
          </p:cNvPr>
          <p:cNvSpPr/>
          <p:nvPr/>
        </p:nvSpPr>
        <p:spPr>
          <a:xfrm>
            <a:off x="3593592" y="23134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1A7D9A4C-6141-F386-80FF-6526918424C9}"/>
              </a:ext>
            </a:extLst>
          </p:cNvPr>
          <p:cNvSpPr/>
          <p:nvPr/>
        </p:nvSpPr>
        <p:spPr>
          <a:xfrm>
            <a:off x="3639312" y="34747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</a:rPr>
              <a:t>Hour 4-12</a:t>
            </a:r>
            <a:endParaRPr lang="en-US" sz="155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77C4C5B8-2D79-2BFD-FBEA-9EB2AA3BA725}"/>
              </a:ext>
            </a:extLst>
          </p:cNvPr>
          <p:cNvSpPr/>
          <p:nvPr/>
        </p:nvSpPr>
        <p:spPr>
          <a:xfrm>
            <a:off x="3639312" y="3977640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500"/>
              </a:lnSpc>
            </a:pPr>
            <a:r>
              <a:rPr lang="en-IN" sz="1100" b="1" dirty="0">
                <a:solidFill>
                  <a:schemeClr val="bg1"/>
                </a:solidFill>
              </a:rPr>
              <a:t>Acute Stress </a:t>
            </a:r>
          </a:p>
          <a:p>
            <a:pPr>
              <a:lnSpc>
                <a:spcPts val="1500"/>
              </a:lnSpc>
            </a:pPr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Sensitive benthic organisms die off. Fish suffer elevated respiratory rates and gill tissue damage</a:t>
            </a:r>
            <a:r>
              <a:rPr lang="en-IN" sz="1100" dirty="0"/>
              <a:t>.</a:t>
            </a:r>
            <a:endParaRPr lang="en-US" sz="110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6E05EAA9-0102-C2C8-062A-E8DA5E6B8121}"/>
              </a:ext>
            </a:extLst>
          </p:cNvPr>
          <p:cNvSpPr/>
          <p:nvPr/>
        </p:nvSpPr>
        <p:spPr>
          <a:xfrm>
            <a:off x="8714232" y="2651760"/>
            <a:ext cx="219456" cy="0"/>
          </a:xfrm>
          <a:prstGeom prst="line">
            <a:avLst/>
          </a:prstGeom>
          <a:noFill/>
          <a:ln w="19050">
            <a:solidFill>
              <a:srgbClr val="2EA89D"/>
            </a:solidFill>
            <a:prstDash val="dash"/>
          </a:ln>
        </p:spPr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46FDC4B1-CD56-F1CE-F101-75FB48EA9838}"/>
              </a:ext>
            </a:extLst>
          </p:cNvPr>
          <p:cNvSpPr/>
          <p:nvPr/>
        </p:nvSpPr>
        <p:spPr>
          <a:xfrm>
            <a:off x="6181344" y="2148839"/>
            <a:ext cx="2514600" cy="3120985"/>
          </a:xfrm>
          <a:prstGeom prst="roundRect">
            <a:avLst>
              <a:gd name="adj" fmla="val 2909"/>
            </a:avLst>
          </a:prstGeom>
          <a:solidFill>
            <a:srgbClr val="0F3A4B"/>
          </a:solidFill>
          <a:ln/>
        </p:spPr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DA8705C8-F170-E646-EEF6-4612EE38F3F1}"/>
              </a:ext>
            </a:extLst>
          </p:cNvPr>
          <p:cNvSpPr/>
          <p:nvPr/>
        </p:nvSpPr>
        <p:spPr>
          <a:xfrm>
            <a:off x="7027164" y="2468880"/>
            <a:ext cx="822960" cy="822960"/>
          </a:xfrm>
          <a:prstGeom prst="ellipse">
            <a:avLst/>
          </a:prstGeom>
          <a:solidFill>
            <a:srgbClr val="2EA89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133F2902-9DBF-7813-2762-C6B6234DE35B}"/>
              </a:ext>
            </a:extLst>
          </p:cNvPr>
          <p:cNvSpPr/>
          <p:nvPr/>
        </p:nvSpPr>
        <p:spPr>
          <a:xfrm>
            <a:off x="6364224" y="23134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1FFDA3D6-03F9-B20A-FBAD-C3A12F8826CC}"/>
              </a:ext>
            </a:extLst>
          </p:cNvPr>
          <p:cNvSpPr/>
          <p:nvPr/>
        </p:nvSpPr>
        <p:spPr>
          <a:xfrm>
            <a:off x="6409944" y="34747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</a:rPr>
              <a:t>Hour 12-48</a:t>
            </a:r>
            <a:endParaRPr lang="en-US" sz="155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3687D210-1690-BA21-877B-F9C2757AFB93}"/>
              </a:ext>
            </a:extLst>
          </p:cNvPr>
          <p:cNvSpPr/>
          <p:nvPr/>
        </p:nvSpPr>
        <p:spPr>
          <a:xfrm>
            <a:off x="6409944" y="3977640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500"/>
              </a:lnSpc>
            </a:pPr>
            <a:r>
              <a:rPr lang="en-IN" sz="1100" b="1" dirty="0">
                <a:solidFill>
                  <a:schemeClr val="bg1"/>
                </a:solidFill>
              </a:rPr>
              <a:t>Systemic Crash</a:t>
            </a:r>
          </a:p>
          <a:p>
            <a:pPr>
              <a:lnSpc>
                <a:spcPts val="1500"/>
              </a:lnSpc>
            </a:pPr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Widespread fish mortality. Strong </a:t>
            </a:r>
            <a:r>
              <a:rPr lang="en-IN" sz="11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odors</a:t>
            </a:r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trigger community reports. Water closures mandated.</a:t>
            </a:r>
            <a:endParaRPr lang="en-US" sz="11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E4974C34-B1DA-A6B7-1CF0-F1F5D9BB935B}"/>
              </a:ext>
            </a:extLst>
          </p:cNvPr>
          <p:cNvSpPr/>
          <p:nvPr/>
        </p:nvSpPr>
        <p:spPr>
          <a:xfrm>
            <a:off x="8951976" y="2148839"/>
            <a:ext cx="2514600" cy="3120983"/>
          </a:xfrm>
          <a:prstGeom prst="roundRect">
            <a:avLst>
              <a:gd name="adj" fmla="val 2909"/>
            </a:avLst>
          </a:prstGeom>
          <a:solidFill>
            <a:srgbClr val="0F3A4B"/>
          </a:solidFill>
          <a:ln/>
        </p:spPr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586AF50C-B169-C5D5-63B8-9AC04C0A0E29}"/>
              </a:ext>
            </a:extLst>
          </p:cNvPr>
          <p:cNvSpPr/>
          <p:nvPr/>
        </p:nvSpPr>
        <p:spPr>
          <a:xfrm>
            <a:off x="9797796" y="2468880"/>
            <a:ext cx="822960" cy="822960"/>
          </a:xfrm>
          <a:prstGeom prst="ellipse">
            <a:avLst/>
          </a:prstGeom>
          <a:solidFill>
            <a:srgbClr val="2EA89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8BC4F6C5-4F33-7687-CB36-8FB93DBCAD33}"/>
              </a:ext>
            </a:extLst>
          </p:cNvPr>
          <p:cNvSpPr/>
          <p:nvPr/>
        </p:nvSpPr>
        <p:spPr>
          <a:xfrm>
            <a:off x="9134856" y="23134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7C847235-2DBF-AA2E-337B-76406E8F7888}"/>
              </a:ext>
            </a:extLst>
          </p:cNvPr>
          <p:cNvSpPr/>
          <p:nvPr/>
        </p:nvSpPr>
        <p:spPr>
          <a:xfrm>
            <a:off x="9180576" y="34747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</a:rPr>
              <a:t>Day 3+</a:t>
            </a:r>
            <a:endParaRPr lang="en-US" sz="155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66348BFA-E3C0-F022-17C7-E57E819D9D36}"/>
              </a:ext>
            </a:extLst>
          </p:cNvPr>
          <p:cNvSpPr/>
          <p:nvPr/>
        </p:nvSpPr>
        <p:spPr>
          <a:xfrm>
            <a:off x="9180576" y="3977640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500"/>
              </a:lnSpc>
            </a:pPr>
            <a:r>
              <a:rPr lang="en-IN" sz="1100" b="1" dirty="0">
                <a:solidFill>
                  <a:schemeClr val="bg1"/>
                </a:solidFill>
              </a:rPr>
              <a:t>Heavy Liabilities </a:t>
            </a:r>
          </a:p>
          <a:p>
            <a:pPr>
              <a:lnSpc>
                <a:spcPts val="1500"/>
              </a:lnSpc>
            </a:pPr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Toxins settle in riverbeds. Cleanup costs reach millions. Heavy fines and lawsuits are initiated.</a:t>
            </a:r>
            <a:endParaRPr lang="en-US" sz="11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EEDB8CDD-796B-2388-83A1-C88BA0263784}"/>
              </a:ext>
            </a:extLst>
          </p:cNvPr>
          <p:cNvSpPr/>
          <p:nvPr/>
        </p:nvSpPr>
        <p:spPr>
          <a:xfrm>
            <a:off x="592018" y="1361574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/>
              <a:t> </a:t>
            </a:r>
            <a:r>
              <a:rPr lang="en-IN" sz="1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The exponential growth of ecological damage and financial liabilities over time.</a:t>
            </a:r>
            <a:r>
              <a:rPr lang="en-IN" sz="1400" dirty="0"/>
              <a:t>.</a:t>
            </a:r>
            <a:endParaRPr lang="en-US" sz="1300" dirty="0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87DF9754-34F2-0BD9-07C3-15639890E38A}"/>
              </a:ext>
            </a:extLst>
          </p:cNvPr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</a:t>
            </a:r>
            <a:endParaRPr lang="en-US" sz="900" dirty="0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12C0EA31-0462-A5B2-B2C0-4D88BE126518}"/>
              </a:ext>
            </a:extLst>
          </p:cNvPr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pic>
        <p:nvPicPr>
          <p:cNvPr id="36" name="Image 1" descr="icons/activity_0A2E3D.png">
            <a:extLst>
              <a:ext uri="{FF2B5EF4-FFF2-40B4-BE49-F238E27FC236}">
                <a16:creationId xmlns:a16="http://schemas.microsoft.com/office/drawing/2014/main" id="{66B6F95C-CB9C-AD45-A18F-DD25E5AEFA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9694" y="2575865"/>
            <a:ext cx="608990" cy="608990"/>
          </a:xfrm>
          <a:prstGeom prst="rect">
            <a:avLst/>
          </a:prstGeom>
        </p:spPr>
      </p:pic>
      <p:pic>
        <p:nvPicPr>
          <p:cNvPr id="40" name="Image 1" descr="icons/chart_F4F8F7.png">
            <a:extLst>
              <a:ext uri="{FF2B5EF4-FFF2-40B4-BE49-F238E27FC236}">
                <a16:creationId xmlns:a16="http://schemas.microsoft.com/office/drawing/2014/main" id="{2D9F69E4-EEC1-69BE-8081-2E9228C0400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64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84664" y="2532753"/>
            <a:ext cx="609905" cy="6099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71548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market already moving toward real-time monitoring.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0F3A4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488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EA8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~$6.3B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water-quality monitoring market, 2026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74720" y="196596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0F3A4B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21488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EA8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~$11B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611880" y="2834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market size by 2034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96596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0F3A4B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1488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EA8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~7.6%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446520" y="2834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annual growth rate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0" y="196596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0F3A4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0" y="21488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EA8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40%+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281160" y="2834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now going to real-time/online systems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industry market-research estimates (2026 reports), rounded for presentation.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4160520"/>
            <a:ext cx="10881360" cy="1920240"/>
          </a:xfrm>
          <a:prstGeom prst="roundRect">
            <a:avLst>
              <a:gd name="adj" fmla="val 3810"/>
            </a:avLst>
          </a:prstGeom>
          <a:solidFill>
            <a:srgbClr val="0F3A4B"/>
          </a:solidFill>
          <a:ln/>
        </p:spPr>
      </p:sp>
      <p:sp>
        <p:nvSpPr>
          <p:cNvPr id="18" name="Shape 16"/>
          <p:cNvSpPr/>
          <p:nvPr/>
        </p:nvSpPr>
        <p:spPr>
          <a:xfrm>
            <a:off x="960120" y="4480560"/>
            <a:ext cx="548640" cy="548640"/>
          </a:xfrm>
          <a:prstGeom prst="ellipse">
            <a:avLst/>
          </a:prstGeom>
          <a:solidFill>
            <a:srgbClr val="2EA89D"/>
          </a:solidFill>
          <a:ln/>
        </p:spPr>
      </p:sp>
      <p:pic>
        <p:nvPicPr>
          <p:cNvPr id="19" name="Image 0" descr="icons/target_0A2E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" y="4551883"/>
            <a:ext cx="405994" cy="40599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691640" y="4526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" y="5157216"/>
            <a:ext cx="82296" cy="82296"/>
          </a:xfrm>
          <a:prstGeom prst="ellipse">
            <a:avLst/>
          </a:prstGeom>
          <a:solidFill>
            <a:srgbClr val="2EA89D"/>
          </a:solidFill>
          <a:ln/>
        </p:spPr>
      </p:sp>
      <p:sp>
        <p:nvSpPr>
          <p:cNvPr id="22" name="Text 19"/>
          <p:cNvSpPr/>
          <p:nvPr/>
        </p:nvSpPr>
        <p:spPr>
          <a:xfrm>
            <a:off x="1188720" y="502005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Tightening regulation (Clean Water Act, EPA PFAS rules) is pushing utilities from periodic sampling to continuous monitoring.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60120" y="5504688"/>
            <a:ext cx="82296" cy="82296"/>
          </a:xfrm>
          <a:prstGeom prst="ellipse">
            <a:avLst/>
          </a:prstGeom>
          <a:solidFill>
            <a:srgbClr val="2EA89D"/>
          </a:solidFill>
          <a:ln/>
        </p:spPr>
      </p:sp>
      <p:sp>
        <p:nvSpPr>
          <p:cNvPr id="24" name="Text 21"/>
          <p:cNvSpPr/>
          <p:nvPr/>
        </p:nvSpPr>
        <p:spPr>
          <a:xfrm>
            <a:off x="1188720" y="53675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and IoT hardware costs keep falling, so more sites can afford always-on data feeds.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960120" y="5852160"/>
            <a:ext cx="82296" cy="82296"/>
          </a:xfrm>
          <a:prstGeom prst="ellipse">
            <a:avLst/>
          </a:prstGeom>
          <a:solidFill>
            <a:srgbClr val="2EA89D"/>
          </a:solidFill>
          <a:ln/>
        </p:spPr>
      </p:sp>
      <p:sp>
        <p:nvSpPr>
          <p:cNvPr id="26" name="Text 23"/>
          <p:cNvSpPr/>
          <p:nvPr/>
        </p:nvSpPr>
        <p:spPr>
          <a:xfrm>
            <a:off x="1188720" y="5715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now makes it practical to turn raw sensor data into a written, actionable report — without a human analyst on call 24/7.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monitoring agent that never clocks out.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0A2E3D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377440"/>
            <a:ext cx="640080" cy="640080"/>
          </a:xfrm>
          <a:prstGeom prst="ellipse">
            <a:avLst/>
          </a:prstGeom>
          <a:solidFill>
            <a:srgbClr val="1B7A72"/>
          </a:solidFill>
          <a:ln/>
        </p:spPr>
      </p:sp>
      <p:pic>
        <p:nvPicPr>
          <p:cNvPr id="6" name="Image 0" descr="icons/droplet_0A2E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050" y="246065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200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Value Proposition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05840" y="356616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Turns raw sensor readings into an AI-written pollution report and authority alert — in minutes, not days.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005840" y="4709160"/>
            <a:ext cx="4389120" cy="0"/>
          </a:xfrm>
          <a:prstGeom prst="line">
            <a:avLst/>
          </a:prstGeom>
          <a:noFill/>
          <a:ln w="12700">
            <a:solidFill>
              <a:srgbClr val="1E4A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48920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CONCEPT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05840" y="52120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EA8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smoke alarm for waterways.”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080760" y="201168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around three moves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080760" y="2606040"/>
            <a:ext cx="548640" cy="548640"/>
          </a:xfrm>
          <a:prstGeom prst="ellipse">
            <a:avLst/>
          </a:prstGeom>
          <a:solidFill>
            <a:srgbClr val="1B7A72"/>
          </a:solidFill>
          <a:ln/>
        </p:spPr>
      </p:sp>
      <p:pic>
        <p:nvPicPr>
          <p:cNvPr id="14" name="Image 1" descr="icons/activity_F4F8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2083" y="2677363"/>
            <a:ext cx="405994" cy="40599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12280" y="257860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Continuous, not periodic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812280" y="2935224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automated pH, turbidity, and dissolved-oxygen readings replace weekly manual checks.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080760" y="3749040"/>
            <a:ext cx="548640" cy="548640"/>
          </a:xfrm>
          <a:prstGeom prst="ellipse">
            <a:avLst/>
          </a:prstGeom>
          <a:solidFill>
            <a:srgbClr val="1B7A72"/>
          </a:solidFill>
          <a:ln/>
        </p:spPr>
      </p:sp>
      <p:pic>
        <p:nvPicPr>
          <p:cNvPr id="18" name="Image 2" descr="icons/cpu_F4F8F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2083" y="3820363"/>
            <a:ext cx="405994" cy="40599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12280" y="372160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Judgment, not just data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812280" y="4078224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domain-tuned AI agent explains severity, ecological impact, and what to do next.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080760" y="4892040"/>
            <a:ext cx="548640" cy="548640"/>
          </a:xfrm>
          <a:prstGeom prst="ellipse">
            <a:avLst/>
          </a:prstGeom>
          <a:solidFill>
            <a:srgbClr val="1B7A72"/>
          </a:solidFill>
          <a:ln/>
        </p:spPr>
      </p:sp>
      <p:pic>
        <p:nvPicPr>
          <p:cNvPr id="22" name="Image 3" descr="icons/mail_F4F8F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2083" y="4963363"/>
            <a:ext cx="405994" cy="40599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12280" y="486460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Action, not a dashboard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812280" y="5221224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Authorities are emailed and the incident is logged the moment a threshold is breached.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sensor reading to authority alert — fully automated.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172968" y="2651760"/>
            <a:ext cx="219456" cy="0"/>
          </a:xfrm>
          <a:prstGeom prst="line">
            <a:avLst/>
          </a:prstGeom>
          <a:noFill/>
          <a:ln w="19050">
            <a:solidFill>
              <a:srgbClr val="2EA89D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40080" y="214884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0F3A4B"/>
          </a:solidFill>
          <a:ln/>
        </p:spPr>
      </p:sp>
      <p:sp>
        <p:nvSpPr>
          <p:cNvPr id="6" name="Shape 4"/>
          <p:cNvSpPr/>
          <p:nvPr/>
        </p:nvSpPr>
        <p:spPr>
          <a:xfrm>
            <a:off x="1485900" y="2468880"/>
            <a:ext cx="822960" cy="822960"/>
          </a:xfrm>
          <a:prstGeom prst="ellipse">
            <a:avLst/>
          </a:prstGeom>
          <a:solidFill>
            <a:srgbClr val="2EA89D"/>
          </a:solidFill>
          <a:ln/>
        </p:spPr>
      </p:sp>
      <p:pic>
        <p:nvPicPr>
          <p:cNvPr id="7" name="Image 0" descr="icons/clock_0A2E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885" y="2575865"/>
            <a:ext cx="608990" cy="6089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3134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34747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hourly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68680" y="3977640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fresh pH, turbidity &amp; dissolved-oxygen readings every hour.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0" y="2651760"/>
            <a:ext cx="219456" cy="0"/>
          </a:xfrm>
          <a:prstGeom prst="line">
            <a:avLst/>
          </a:prstGeom>
          <a:noFill/>
          <a:ln w="19050">
            <a:solidFill>
              <a:srgbClr val="2EA89D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3410712" y="214884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0F3A4B"/>
          </a:solidFill>
          <a:ln/>
        </p:spPr>
      </p:sp>
      <p:sp>
        <p:nvSpPr>
          <p:cNvPr id="13" name="Shape 10"/>
          <p:cNvSpPr/>
          <p:nvPr/>
        </p:nvSpPr>
        <p:spPr>
          <a:xfrm>
            <a:off x="4256532" y="2468880"/>
            <a:ext cx="822960" cy="822960"/>
          </a:xfrm>
          <a:prstGeom prst="ellipse">
            <a:avLst/>
          </a:prstGeom>
          <a:solidFill>
            <a:srgbClr val="2EA89D"/>
          </a:solidFill>
          <a:ln/>
        </p:spPr>
      </p:sp>
      <p:pic>
        <p:nvPicPr>
          <p:cNvPr id="14" name="Image 1" descr="icons/activity_0A2E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517" y="2575865"/>
            <a:ext cx="608990" cy="60899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93592" y="23134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639312" y="34747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 instantly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3639312" y="3977640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any reading that breaches safe thresholds.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714232" y="2651760"/>
            <a:ext cx="219456" cy="0"/>
          </a:xfrm>
          <a:prstGeom prst="line">
            <a:avLst/>
          </a:prstGeom>
          <a:noFill/>
          <a:ln w="19050">
            <a:solidFill>
              <a:srgbClr val="2EA89D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6181344" y="214884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0F3A4B"/>
          </a:solidFill>
          <a:ln/>
        </p:spPr>
      </p:sp>
      <p:sp>
        <p:nvSpPr>
          <p:cNvPr id="20" name="Shape 16"/>
          <p:cNvSpPr/>
          <p:nvPr/>
        </p:nvSpPr>
        <p:spPr>
          <a:xfrm>
            <a:off x="7027164" y="2468880"/>
            <a:ext cx="822960" cy="822960"/>
          </a:xfrm>
          <a:prstGeom prst="ellipse">
            <a:avLst/>
          </a:prstGeom>
          <a:solidFill>
            <a:srgbClr val="2EA89D"/>
          </a:solidFill>
          <a:ln/>
        </p:spPr>
      </p:sp>
      <p:pic>
        <p:nvPicPr>
          <p:cNvPr id="21" name="Image 2" descr="icons/cpu_0A2E3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4149" y="2575865"/>
            <a:ext cx="608990" cy="60899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64224" y="23134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409944" y="34747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assessment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6409944" y="3977640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marine-scientist AI agent writes severity, impact &amp; remediation steps.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951976" y="214884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0F3A4B"/>
          </a:solidFill>
          <a:ln/>
        </p:spPr>
      </p:sp>
      <p:sp>
        <p:nvSpPr>
          <p:cNvPr id="26" name="Shape 21"/>
          <p:cNvSpPr/>
          <p:nvPr/>
        </p:nvSpPr>
        <p:spPr>
          <a:xfrm>
            <a:off x="9797796" y="2468880"/>
            <a:ext cx="822960" cy="822960"/>
          </a:xfrm>
          <a:prstGeom prst="ellipse">
            <a:avLst/>
          </a:prstGeom>
          <a:solidFill>
            <a:srgbClr val="2EA89D"/>
          </a:solidFill>
          <a:ln/>
        </p:spPr>
      </p:sp>
      <p:pic>
        <p:nvPicPr>
          <p:cNvPr id="27" name="Image 3" descr="icons/mail_0A2E3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4781" y="2575865"/>
            <a:ext cx="608990" cy="60899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34856" y="23134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9180576" y="34747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&amp; log</a:t>
            </a:r>
            <a:endParaRPr lang="en-US" sz="1550" dirty="0"/>
          </a:p>
        </p:txBody>
      </p:sp>
      <p:sp>
        <p:nvSpPr>
          <p:cNvPr id="30" name="Text 24"/>
          <p:cNvSpPr/>
          <p:nvPr/>
        </p:nvSpPr>
        <p:spPr>
          <a:xfrm>
            <a:off x="9180576" y="3977640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authorities and records the incident automatically.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40080" y="5349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is idempotent: readings already processed are never re-alerted or re-logged.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SNAPSHOT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authority actually receives.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206240" cy="3977640"/>
          </a:xfrm>
          <a:prstGeom prst="roundRect">
            <a:avLst>
              <a:gd name="adj" fmla="val 1839"/>
            </a:avLst>
          </a:prstGeom>
          <a:solidFill>
            <a:srgbClr val="0A2E3D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48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READING — Site 14, Delta Estuary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2651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29000" y="2679192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safe (&lt; 6)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0120" y="3200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Turbidity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0" y="3200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 NTU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0" y="3227832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safe (&gt; 50)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60120" y="3749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Dissolved O₂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3749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 mg/L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3776472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safe (&lt; 5)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60120" y="4343400"/>
            <a:ext cx="3566160" cy="0"/>
          </a:xfrm>
          <a:prstGeom prst="line">
            <a:avLst/>
          </a:prstGeom>
          <a:noFill/>
          <a:ln w="12700">
            <a:solidFill>
              <a:srgbClr val="1E4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526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60120" y="484632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F5A44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846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4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74920" y="1874520"/>
            <a:ext cx="61264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B33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49240" y="2148840"/>
            <a:ext cx="502920" cy="502920"/>
          </a:xfrm>
          <a:prstGeom prst="ellipse">
            <a:avLst/>
          </a:prstGeom>
          <a:solidFill>
            <a:srgbClr val="1B7A72"/>
          </a:solidFill>
          <a:ln/>
        </p:spPr>
      </p:sp>
      <p:pic>
        <p:nvPicPr>
          <p:cNvPr id="21" name="Image 0" descr="icons/cpu_F4F8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4620" y="2214220"/>
            <a:ext cx="372161" cy="372161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989320" y="216712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Pollution Assessment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989320" y="25328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in ~8 seconds by the Marine Environmental Scientist agent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394960" y="3063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Assessment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394960" y="3355848"/>
            <a:ext cx="5486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parameters breached simultaneously — moderate-to-severe acute event, consistent with a runoff or discharge spike.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394960" y="410565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Aquatic Life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394960" y="4398264"/>
            <a:ext cx="5486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oxygen and high turbidity stress gill function in fish and invertebrates; low pH risks shell and egg viability.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394960" y="51480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394960" y="5440680"/>
            <a:ext cx="5486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a field team within 4 hours, trace the upstream source, and re-sample hourly until readings normalize.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measures water. Almost no one acts on it in real time.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0A2E3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1874520"/>
            <a:ext cx="222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Lab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071360" y="1874520"/>
            <a:ext cx="222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IoT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96400" y="1874520"/>
            <a:ext cx="222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296400" y="2514600"/>
            <a:ext cx="2225040" cy="3072384"/>
          </a:xfrm>
          <a:prstGeom prst="rect">
            <a:avLst/>
          </a:prstGeom>
          <a:solidFill>
            <a:srgbClr val="E9F4F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514600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hourly readings</a:t>
            </a:r>
            <a:endParaRPr lang="en-US" sz="1200" dirty="0"/>
          </a:p>
        </p:txBody>
      </p:sp>
      <p:pic>
        <p:nvPicPr>
          <p:cNvPr id="11" name="Image 0" descr="icons/x_C9D3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824" y="2642616"/>
            <a:ext cx="256032" cy="256032"/>
          </a:xfrm>
          <a:prstGeom prst="rect">
            <a:avLst/>
          </a:prstGeom>
        </p:spPr>
      </p:pic>
      <p:pic>
        <p:nvPicPr>
          <p:cNvPr id="12" name="Image 1" descr="icons/check_1B7A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2642616"/>
            <a:ext cx="256032" cy="256032"/>
          </a:xfrm>
          <a:prstGeom prst="rect">
            <a:avLst/>
          </a:prstGeom>
        </p:spPr>
      </p:pic>
      <p:pic>
        <p:nvPicPr>
          <p:cNvPr id="13" name="Image 2" descr="icons/check_1B7A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0904" y="2642616"/>
            <a:ext cx="256032" cy="25603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40080" y="3026664"/>
            <a:ext cx="86563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0"/>
          <p:cNvSpPr/>
          <p:nvPr/>
        </p:nvSpPr>
        <p:spPr>
          <a:xfrm>
            <a:off x="914400" y="302666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pollution classification</a:t>
            </a:r>
            <a:endParaRPr lang="en-US" sz="1200" dirty="0"/>
          </a:p>
        </p:txBody>
      </p:sp>
      <p:pic>
        <p:nvPicPr>
          <p:cNvPr id="16" name="Image 3" descr="icons/x_C9D3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824" y="3154680"/>
            <a:ext cx="256032" cy="256032"/>
          </a:xfrm>
          <a:prstGeom prst="rect">
            <a:avLst/>
          </a:prstGeom>
        </p:spPr>
      </p:pic>
      <p:pic>
        <p:nvPicPr>
          <p:cNvPr id="17" name="Image 4" descr="icons/x_C9D3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864" y="3154680"/>
            <a:ext cx="256032" cy="256032"/>
          </a:xfrm>
          <a:prstGeom prst="rect">
            <a:avLst/>
          </a:prstGeom>
        </p:spPr>
      </p:pic>
      <p:pic>
        <p:nvPicPr>
          <p:cNvPr id="18" name="Image 5" descr="icons/check_1B7A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0904" y="3154680"/>
            <a:ext cx="256032" cy="25603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14400" y="353872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scientific impact assessment</a:t>
            </a:r>
            <a:endParaRPr lang="en-US" sz="1200" dirty="0"/>
          </a:p>
        </p:txBody>
      </p:sp>
      <p:pic>
        <p:nvPicPr>
          <p:cNvPr id="20" name="Image 6" descr="icons/x_C9D3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824" y="3666744"/>
            <a:ext cx="256032" cy="256032"/>
          </a:xfrm>
          <a:prstGeom prst="rect">
            <a:avLst/>
          </a:prstGeom>
        </p:spPr>
      </p:pic>
      <p:pic>
        <p:nvPicPr>
          <p:cNvPr id="21" name="Image 7" descr="icons/x_C9D3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864" y="3666744"/>
            <a:ext cx="256032" cy="256032"/>
          </a:xfrm>
          <a:prstGeom prst="rect">
            <a:avLst/>
          </a:prstGeom>
        </p:spPr>
      </p:pic>
      <p:pic>
        <p:nvPicPr>
          <p:cNvPr id="22" name="Image 8" descr="icons/check_1B7A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0904" y="3666744"/>
            <a:ext cx="256032" cy="256032"/>
          </a:xfrm>
          <a:prstGeom prst="rect">
            <a:avLst/>
          </a:prstGeom>
        </p:spPr>
      </p:pic>
      <p:sp>
        <p:nvSpPr>
          <p:cNvPr id="23" name="Shape 12"/>
          <p:cNvSpPr/>
          <p:nvPr/>
        </p:nvSpPr>
        <p:spPr>
          <a:xfrm>
            <a:off x="640080" y="4050792"/>
            <a:ext cx="86563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13"/>
          <p:cNvSpPr/>
          <p:nvPr/>
        </p:nvSpPr>
        <p:spPr>
          <a:xfrm>
            <a:off x="914400" y="40507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authority alerting</a:t>
            </a:r>
            <a:endParaRPr lang="en-US" sz="1200" dirty="0"/>
          </a:p>
        </p:txBody>
      </p:sp>
      <p:pic>
        <p:nvPicPr>
          <p:cNvPr id="25" name="Image 9" descr="icons/x_C9D3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824" y="4178808"/>
            <a:ext cx="256032" cy="256032"/>
          </a:xfrm>
          <a:prstGeom prst="rect">
            <a:avLst/>
          </a:prstGeom>
        </p:spPr>
      </p:pic>
      <p:pic>
        <p:nvPicPr>
          <p:cNvPr id="26" name="Image 10" descr="icons/x_C9D3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864" y="4178808"/>
            <a:ext cx="256032" cy="256032"/>
          </a:xfrm>
          <a:prstGeom prst="rect">
            <a:avLst/>
          </a:prstGeom>
        </p:spPr>
      </p:pic>
      <p:pic>
        <p:nvPicPr>
          <p:cNvPr id="27" name="Image 11" descr="icons/check_1B7A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0904" y="4178808"/>
            <a:ext cx="256032" cy="256032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914400" y="4562856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Auto-logged, auditable incident trail</a:t>
            </a:r>
            <a:endParaRPr lang="en-US" sz="1200" dirty="0"/>
          </a:p>
        </p:txBody>
      </p:sp>
      <p:pic>
        <p:nvPicPr>
          <p:cNvPr id="29" name="Image 12" descr="icons/x_C9D3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824" y="4690872"/>
            <a:ext cx="256032" cy="256032"/>
          </a:xfrm>
          <a:prstGeom prst="rect">
            <a:avLst/>
          </a:prstGeom>
        </p:spPr>
      </p:pic>
      <p:pic>
        <p:nvPicPr>
          <p:cNvPr id="30" name="Image 13" descr="icons/x_C9D3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864" y="4690872"/>
            <a:ext cx="256032" cy="256032"/>
          </a:xfrm>
          <a:prstGeom prst="rect">
            <a:avLst/>
          </a:prstGeom>
        </p:spPr>
      </p:pic>
      <p:pic>
        <p:nvPicPr>
          <p:cNvPr id="31" name="Image 14" descr="icons/check_1B7A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0904" y="4690872"/>
            <a:ext cx="256032" cy="256032"/>
          </a:xfrm>
          <a:prstGeom prst="rect">
            <a:avLst/>
          </a:prstGeom>
        </p:spPr>
      </p:pic>
      <p:sp>
        <p:nvSpPr>
          <p:cNvPr id="32" name="Shape 15"/>
          <p:cNvSpPr/>
          <p:nvPr/>
        </p:nvSpPr>
        <p:spPr>
          <a:xfrm>
            <a:off x="640080" y="5074920"/>
            <a:ext cx="86563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16"/>
          <p:cNvSpPr/>
          <p:nvPr/>
        </p:nvSpPr>
        <p:spPr>
          <a:xfrm>
            <a:off x="914400" y="5074920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analyst required</a:t>
            </a:r>
            <a:endParaRPr lang="en-US" sz="1200" dirty="0"/>
          </a:p>
        </p:txBody>
      </p:sp>
      <p:pic>
        <p:nvPicPr>
          <p:cNvPr id="34" name="Image 15" descr="icons/x_C9D3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824" y="5202936"/>
            <a:ext cx="256032" cy="256032"/>
          </a:xfrm>
          <a:prstGeom prst="rect">
            <a:avLst/>
          </a:prstGeom>
        </p:spPr>
      </p:pic>
      <p:pic>
        <p:nvPicPr>
          <p:cNvPr id="35" name="Image 16" descr="icons/check_1B7A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5202936"/>
            <a:ext cx="256032" cy="256032"/>
          </a:xfrm>
          <a:prstGeom prst="rect">
            <a:avLst/>
          </a:prstGeom>
        </p:spPr>
      </p:pic>
      <p:pic>
        <p:nvPicPr>
          <p:cNvPr id="36" name="Image 17" descr="icons/check_1B7A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0904" y="5202936"/>
            <a:ext cx="256032" cy="256032"/>
          </a:xfrm>
          <a:prstGeom prst="rect">
            <a:avLst/>
          </a:prstGeom>
        </p:spPr>
      </p:pic>
      <p:sp>
        <p:nvSpPr>
          <p:cNvPr id="37" name="Shape 17"/>
          <p:cNvSpPr/>
          <p:nvPr/>
        </p:nvSpPr>
        <p:spPr>
          <a:xfrm>
            <a:off x="640080" y="5586984"/>
            <a:ext cx="10881360" cy="0"/>
          </a:xfrm>
          <a:prstGeom prst="line">
            <a:avLst/>
          </a:prstGeom>
          <a:noFill/>
          <a:ln w="12700">
            <a:solidFill>
              <a:srgbClr val="D8E1E3"/>
            </a:solidFill>
            <a:prstDash val="solid"/>
          </a:ln>
        </p:spPr>
      </p:sp>
      <p:sp>
        <p:nvSpPr>
          <p:cNvPr id="38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</a:t>
            </a:r>
            <a:endParaRPr lang="en-US" sz="900" dirty="0"/>
          </a:p>
        </p:txBody>
      </p:sp>
      <p:sp>
        <p:nvSpPr>
          <p:cNvPr id="39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CUSTOMERS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responsible for water quality — and who feels it first.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502920" cy="502920"/>
          </a:xfrm>
          <a:prstGeom prst="ellipse">
            <a:avLst/>
          </a:prstGeom>
          <a:solidFill>
            <a:srgbClr val="1B7A72"/>
          </a:solidFill>
          <a:ln/>
        </p:spPr>
      </p:sp>
      <p:pic>
        <p:nvPicPr>
          <p:cNvPr id="6" name="Image 0" descr="icons/database_F4F8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248854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4231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water authorities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136392"/>
            <a:ext cx="502920" cy="502920"/>
          </a:xfrm>
          <a:prstGeom prst="ellipse">
            <a:avLst/>
          </a:prstGeom>
          <a:solidFill>
            <a:srgbClr val="1B7A72"/>
          </a:solidFill>
          <a:ln/>
        </p:spPr>
      </p:sp>
      <p:pic>
        <p:nvPicPr>
          <p:cNvPr id="9" name="Image 1" descr="icons/shield_F4F8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60" y="3201772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13639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protection agencies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3849624"/>
            <a:ext cx="502920" cy="502920"/>
          </a:xfrm>
          <a:prstGeom prst="ellipse">
            <a:avLst/>
          </a:prstGeom>
          <a:solidFill>
            <a:srgbClr val="1B7A72"/>
          </a:solidFill>
          <a:ln/>
        </p:spPr>
      </p:sp>
      <p:pic>
        <p:nvPicPr>
          <p:cNvPr id="12" name="Image 2" descr="icons/activity_F4F8F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60" y="3915004"/>
            <a:ext cx="372161" cy="37216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384962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wastewater dischargers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40080" y="4562856"/>
            <a:ext cx="502920" cy="502920"/>
          </a:xfrm>
          <a:prstGeom prst="ellipse">
            <a:avLst/>
          </a:prstGeom>
          <a:solidFill>
            <a:srgbClr val="1B7A72"/>
          </a:solidFill>
          <a:ln/>
        </p:spPr>
      </p:sp>
      <p:pic>
        <p:nvPicPr>
          <p:cNvPr id="15" name="Image 3" descr="icons/droplet_F4F8F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460" y="4628236"/>
            <a:ext cx="372161" cy="37216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25880" y="456285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Aquaculture &amp; fisheries operators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309360" y="192024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0A2E3D"/>
          </a:solidFill>
          <a:ln/>
        </p:spPr>
      </p:sp>
      <p:sp>
        <p:nvSpPr>
          <p:cNvPr id="18" name="Shape 12"/>
          <p:cNvSpPr/>
          <p:nvPr/>
        </p:nvSpPr>
        <p:spPr>
          <a:xfrm>
            <a:off x="6629400" y="2240280"/>
            <a:ext cx="548640" cy="548640"/>
          </a:xfrm>
          <a:prstGeom prst="ellipse">
            <a:avLst/>
          </a:prstGeom>
          <a:solidFill>
            <a:srgbClr val="2EA89D"/>
          </a:solidFill>
          <a:ln/>
        </p:spPr>
      </p:sp>
      <p:pic>
        <p:nvPicPr>
          <p:cNvPr id="19" name="Image 4" descr="icons/trend_0A2E3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0723" y="2311603"/>
            <a:ext cx="405994" cy="40599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315200" y="2286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Adopters</a:t>
            </a:r>
            <a:endParaRPr lang="en-US" sz="1700" dirty="0"/>
          </a:p>
        </p:txBody>
      </p:sp>
      <p:sp>
        <p:nvSpPr>
          <p:cNvPr id="21" name="Shape 14"/>
          <p:cNvSpPr/>
          <p:nvPr/>
        </p:nvSpPr>
        <p:spPr>
          <a:xfrm>
            <a:off x="6675120" y="3136392"/>
            <a:ext cx="82296" cy="82296"/>
          </a:xfrm>
          <a:prstGeom prst="ellipse">
            <a:avLst/>
          </a:prstGeom>
          <a:solidFill>
            <a:srgbClr val="2EA89D"/>
          </a:solidFill>
          <a:ln/>
        </p:spPr>
      </p:sp>
      <p:sp>
        <p:nvSpPr>
          <p:cNvPr id="22" name="Text 15"/>
          <p:cNvSpPr/>
          <p:nvPr/>
        </p:nvSpPr>
        <p:spPr>
          <a:xfrm>
            <a:off x="6903720" y="299008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districts with sensors already installed, but no automated alerting layer on top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6675120" y="4050792"/>
            <a:ext cx="82296" cy="82296"/>
          </a:xfrm>
          <a:prstGeom prst="ellipse">
            <a:avLst/>
          </a:prstGeom>
          <a:solidFill>
            <a:srgbClr val="2EA89D"/>
          </a:solidFill>
          <a:ln/>
        </p:spPr>
      </p:sp>
      <p:sp>
        <p:nvSpPr>
          <p:cNvPr id="24" name="Text 17"/>
          <p:cNvSpPr/>
          <p:nvPr/>
        </p:nvSpPr>
        <p:spPr>
          <a:xfrm>
            <a:off x="6903720" y="390448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&amp; lake conservation NGOs monitoring specific watersheds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6675120" y="4965192"/>
            <a:ext cx="82296" cy="82296"/>
          </a:xfrm>
          <a:prstGeom prst="ellipse">
            <a:avLst/>
          </a:prstGeom>
          <a:solidFill>
            <a:srgbClr val="2EA89D"/>
          </a:solidFill>
          <a:ln/>
        </p:spPr>
      </p:sp>
      <p:sp>
        <p:nvSpPr>
          <p:cNvPr id="26" name="Text 19"/>
          <p:cNvSpPr/>
          <p:nvPr/>
        </p:nvSpPr>
        <p:spPr>
          <a:xfrm>
            <a:off x="6903720" y="481888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sites under regulatory pressure to self-monitor discharge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Priced like the infrastructure it protects.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7492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B33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548640" cy="548640"/>
          </a:xfrm>
          <a:prstGeom prst="ellipse">
            <a:avLst/>
          </a:prstGeom>
          <a:solidFill>
            <a:srgbClr val="1B7A72"/>
          </a:solidFill>
          <a:ln/>
        </p:spPr>
      </p:sp>
      <p:pic>
        <p:nvPicPr>
          <p:cNvPr id="6" name="Image 0" descr="icons/dollar_F4F8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" y="235732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33172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Streams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60120" y="3191256"/>
            <a:ext cx="82296" cy="82296"/>
          </a:xfrm>
          <a:prstGeom prst="ellipse">
            <a:avLst/>
          </a:prstGeom>
          <a:solidFill>
            <a:srgbClr val="1B7A72"/>
          </a:solidFill>
          <a:ln/>
        </p:spPr>
      </p:sp>
      <p:sp>
        <p:nvSpPr>
          <p:cNvPr id="9" name="Text 6"/>
          <p:cNvSpPr/>
          <p:nvPr/>
        </p:nvSpPr>
        <p:spPr>
          <a:xfrm>
            <a:off x="1188720" y="3108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Per-site monthly subscription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60120" y="3813048"/>
            <a:ext cx="82296" cy="82296"/>
          </a:xfrm>
          <a:prstGeom prst="ellipse">
            <a:avLst/>
          </a:prstGeom>
          <a:solidFill>
            <a:srgbClr val="1B7A72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37307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pricing by monitoring points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60120" y="4434840"/>
            <a:ext cx="82296" cy="82296"/>
          </a:xfrm>
          <a:prstGeom prst="ellipse">
            <a:avLst/>
          </a:prstGeom>
          <a:solidFill>
            <a:srgbClr val="1B7A72"/>
          </a:solidFill>
          <a:ln/>
        </p:spPr>
      </p:sp>
      <p:sp>
        <p:nvSpPr>
          <p:cNvPr id="13" name="Text 10"/>
          <p:cNvSpPr/>
          <p:nvPr/>
        </p:nvSpPr>
        <p:spPr>
          <a:xfrm>
            <a:off x="1188720" y="435254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Incident-response consulting add-on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0120" y="5056632"/>
            <a:ext cx="82296" cy="82296"/>
          </a:xfrm>
          <a:prstGeom prst="ellipse">
            <a:avLst/>
          </a:prstGeom>
          <a:solidFill>
            <a:srgbClr val="1B7A72"/>
          </a:solidFill>
          <a:ln/>
        </p:spPr>
      </p:sp>
      <p:sp>
        <p:nvSpPr>
          <p:cNvPr id="15" name="Text 12"/>
          <p:cNvSpPr/>
          <p:nvPr/>
        </p:nvSpPr>
        <p:spPr>
          <a:xfrm>
            <a:off x="1188720" y="497433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monitoring contracts &amp; grants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72200" y="1965960"/>
            <a:ext cx="507492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B33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92240" y="2286000"/>
            <a:ext cx="548640" cy="548640"/>
          </a:xfrm>
          <a:prstGeom prst="ellipse">
            <a:avLst/>
          </a:prstGeom>
          <a:solidFill>
            <a:srgbClr val="FF5A44"/>
          </a:solidFill>
          <a:ln/>
        </p:spPr>
      </p:sp>
      <p:pic>
        <p:nvPicPr>
          <p:cNvPr id="18" name="Image 1" descr="icons/chart_F4F8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563" y="2357323"/>
            <a:ext cx="405994" cy="40599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178040" y="233172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Structure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492240" y="3191256"/>
            <a:ext cx="82296" cy="82296"/>
          </a:xfrm>
          <a:prstGeom prst="ellipse">
            <a:avLst/>
          </a:prstGeom>
          <a:solidFill>
            <a:srgbClr val="FF5A44"/>
          </a:solidFill>
          <a:ln/>
        </p:spPr>
      </p:sp>
      <p:sp>
        <p:nvSpPr>
          <p:cNvPr id="21" name="Text 17"/>
          <p:cNvSpPr/>
          <p:nvPr/>
        </p:nvSpPr>
        <p:spPr>
          <a:xfrm>
            <a:off x="6720840" y="3108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&amp; data-feed costs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492240" y="3739896"/>
            <a:ext cx="82296" cy="82296"/>
          </a:xfrm>
          <a:prstGeom prst="ellipse">
            <a:avLst/>
          </a:prstGeom>
          <a:solidFill>
            <a:srgbClr val="FF5A44"/>
          </a:solidFill>
          <a:ln/>
        </p:spPr>
      </p:sp>
      <p:sp>
        <p:nvSpPr>
          <p:cNvPr id="23" name="Text 19"/>
          <p:cNvSpPr/>
          <p:nvPr/>
        </p:nvSpPr>
        <p:spPr>
          <a:xfrm>
            <a:off x="6720840" y="36576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automation hosting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492240" y="4288536"/>
            <a:ext cx="82296" cy="82296"/>
          </a:xfrm>
          <a:prstGeom prst="ellipse">
            <a:avLst/>
          </a:prstGeom>
          <a:solidFill>
            <a:srgbClr val="FF5A44"/>
          </a:solidFill>
          <a:ln/>
        </p:spPr>
      </p:sp>
      <p:sp>
        <p:nvSpPr>
          <p:cNvPr id="25" name="Text 21"/>
          <p:cNvSpPr/>
          <p:nvPr/>
        </p:nvSpPr>
        <p:spPr>
          <a:xfrm>
            <a:off x="6720840" y="42062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 API usage per assessment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6492240" y="4837176"/>
            <a:ext cx="82296" cy="82296"/>
          </a:xfrm>
          <a:prstGeom prst="ellipse">
            <a:avLst/>
          </a:prstGeom>
          <a:solidFill>
            <a:srgbClr val="FF5A44"/>
          </a:solidFill>
          <a:ln/>
        </p:spPr>
      </p:sp>
      <p:sp>
        <p:nvSpPr>
          <p:cNvPr id="27" name="Text 23"/>
          <p:cNvSpPr/>
          <p:nvPr/>
        </p:nvSpPr>
        <p:spPr>
          <a:xfrm>
            <a:off x="6720840" y="47548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492240" y="5385816"/>
            <a:ext cx="82296" cy="82296"/>
          </a:xfrm>
          <a:prstGeom prst="ellipse">
            <a:avLst/>
          </a:prstGeom>
          <a:solidFill>
            <a:srgbClr val="FF5A44"/>
          </a:solidFill>
          <a:ln/>
        </p:spPr>
      </p:sp>
      <p:sp>
        <p:nvSpPr>
          <p:cNvPr id="29" name="Text 25"/>
          <p:cNvSpPr/>
          <p:nvPr/>
        </p:nvSpPr>
        <p:spPr>
          <a:xfrm>
            <a:off x="6720840" y="53035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compliance staff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AQUAGUARD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is easy to sketch. It's hard to run end-to-end.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0F3A4B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221992"/>
            <a:ext cx="685800" cy="685800"/>
          </a:xfrm>
          <a:prstGeom prst="ellipse">
            <a:avLst/>
          </a:prstGeom>
          <a:solidFill>
            <a:srgbClr val="2EA89D"/>
          </a:solidFill>
          <a:ln/>
        </p:spPr>
      </p:sp>
      <p:pic>
        <p:nvPicPr>
          <p:cNvPr id="6" name="Image 0" descr="icons/shield_0A2E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994" y="2311146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057400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Unfair Advantage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920240" y="237744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automated pipeline pairs a domain-tuned “environmental scientist” AI agent with detection and alerting — plus a growing incident-log dataset that sharpens every future assessment.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3566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Metrics We Track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41148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0F3A4B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42976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A8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 hr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77240" y="4983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cadence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74720" y="41148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0F3A4B"/>
          </a:solidFill>
          <a:ln/>
        </p:spPr>
      </p:sp>
      <p:sp>
        <p:nvSpPr>
          <p:cNvPr id="14" name="Text 11"/>
          <p:cNvSpPr/>
          <p:nvPr/>
        </p:nvSpPr>
        <p:spPr>
          <a:xfrm>
            <a:off x="3474720" y="42976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A8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 sec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3611880" y="4983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AI assessment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309360" y="41148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0F3A4B"/>
          </a:solidFill>
          <a:ln/>
        </p:spPr>
      </p:sp>
      <p:sp>
        <p:nvSpPr>
          <p:cNvPr id="17" name="Text 14"/>
          <p:cNvSpPr/>
          <p:nvPr/>
        </p:nvSpPr>
        <p:spPr>
          <a:xfrm>
            <a:off x="6309360" y="42976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A8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446520" y="4983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auto-logged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9144000" y="41148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0F3A4B"/>
          </a:solidFill>
          <a:ln/>
        </p:spPr>
      </p:sp>
      <p:sp>
        <p:nvSpPr>
          <p:cNvPr id="20" name="Text 17"/>
          <p:cNvSpPr/>
          <p:nvPr/>
        </p:nvSpPr>
        <p:spPr>
          <a:xfrm>
            <a:off x="9144000" y="42976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A8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9281160" y="4983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alerts on breach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watershed to a standard layer of water infrastructure.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172968" y="2350008"/>
            <a:ext cx="219456" cy="0"/>
          </a:xfrm>
          <a:prstGeom prst="line">
            <a:avLst/>
          </a:prstGeom>
          <a:noFill/>
          <a:ln w="19050">
            <a:solidFill>
              <a:srgbClr val="1B7A7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B33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221992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1B7A7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219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337560"/>
            <a:ext cx="2057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AquaGuard AI live on one watershed with a design partner; validate detection accuracy and alert quality against manual sampling.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0" y="2350008"/>
            <a:ext cx="219456" cy="0"/>
          </a:xfrm>
          <a:prstGeom prst="line">
            <a:avLst/>
          </a:prstGeom>
          <a:noFill/>
          <a:ln w="19050">
            <a:solidFill>
              <a:srgbClr val="1B7A72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410712" y="196596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B33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39312" y="2221992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1B7A72"/>
          </a:solidFill>
          <a:ln/>
        </p:spPr>
      </p:sp>
      <p:sp>
        <p:nvSpPr>
          <p:cNvPr id="13" name="Text 11"/>
          <p:cNvSpPr/>
          <p:nvPr/>
        </p:nvSpPr>
        <p:spPr>
          <a:xfrm>
            <a:off x="3639312" y="22219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39312" y="28346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39312" y="3337560"/>
            <a:ext cx="2057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5 sites across 2–3 partners; add more sensor types and tune the AI assessment with real incident feedback.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14232" y="2350008"/>
            <a:ext cx="219456" cy="0"/>
          </a:xfrm>
          <a:prstGeom prst="line">
            <a:avLst/>
          </a:prstGeom>
          <a:noFill/>
          <a:ln w="19050">
            <a:solidFill>
              <a:srgbClr val="1B7A7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181344" y="196596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B33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9944" y="2221992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1B7A7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9944" y="22219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9944" y="28346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9944" y="3337560"/>
            <a:ext cx="2057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 compliance &amp; data-handling certifications needed for municipal and government procurement.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51976" y="196596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B33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80576" y="2221992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1B7A72"/>
          </a:solidFill>
          <a:ln/>
        </p:spPr>
      </p:sp>
      <p:sp>
        <p:nvSpPr>
          <p:cNvPr id="24" name="Text 22"/>
          <p:cNvSpPr/>
          <p:nvPr/>
        </p:nvSpPr>
        <p:spPr>
          <a:xfrm>
            <a:off x="9180576" y="22219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80576" y="28346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180576" y="3337560"/>
            <a:ext cx="2057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self-serve onboarding, launch tiered subscription pricing, and target 50+ monitored sites.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-91440"/>
            <a:ext cx="3840480" cy="3840480"/>
          </a:xfrm>
          <a:prstGeom prst="ellipse">
            <a:avLst/>
          </a:prstGeom>
          <a:ln w="19050">
            <a:solidFill>
              <a:srgbClr val="2EA89D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57200"/>
            <a:ext cx="2743200" cy="2743200"/>
          </a:xfrm>
          <a:prstGeom prst="ellipse">
            <a:avLst/>
          </a:prstGeom>
          <a:ln w="19050">
            <a:solidFill>
              <a:srgbClr val="2EA89D">
                <a:alpha val="14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28803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keep the water clean.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3794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We’re presenting the new technology of </a:t>
            </a:r>
            <a:r>
              <a:rPr lang="en-US" sz="1400" dirty="0" err="1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NexusSpells</a:t>
            </a:r>
            <a:r>
              <a:rPr lang="en-US" sz="14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5029200"/>
            <a:ext cx="2834640" cy="594360"/>
          </a:xfrm>
          <a:prstGeom prst="roundRect">
            <a:avLst>
              <a:gd name="adj" fmla="val 50769"/>
            </a:avLst>
          </a:prstGeom>
          <a:solidFill>
            <a:srgbClr val="1B7A7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6"/>
          <p:cNvSpPr/>
          <p:nvPr/>
        </p:nvSpPr>
        <p:spPr>
          <a:xfrm>
            <a:off x="640080" y="50292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F4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</a:t>
            </a:r>
            <a:r>
              <a:rPr lang="en-US" sz="1300" b="1" dirty="0">
                <a:solidFill>
                  <a:srgbClr val="F4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  ·  Founding Team  ·  </a:t>
            </a:r>
            <a:r>
              <a:rPr lang="en-US" sz="1100" dirty="0" err="1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NexusSpells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72BD3DC-AA3A-2533-F3F6-64428C0D8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541" y="1104831"/>
            <a:ext cx="1794277" cy="135033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713FA06-F2A4-34A8-644F-B42696E5C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0019" y="769225"/>
            <a:ext cx="4816257" cy="45571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E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1DC0CB-0370-098D-3ECE-8619F520E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A970AD2-F480-16D4-C154-832E6A321A6F}"/>
              </a:ext>
            </a:extLst>
          </p:cNvPr>
          <p:cNvSpPr/>
          <p:nvPr/>
        </p:nvSpPr>
        <p:spPr>
          <a:xfrm>
            <a:off x="165627" y="109728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 to our Model:</a:t>
            </a:r>
            <a:endParaRPr lang="en-US" sz="3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0B2076B-3BD7-8694-9824-5524C97E8308}"/>
              </a:ext>
            </a:extLst>
          </p:cNvPr>
          <p:cNvSpPr/>
          <p:nvPr/>
        </p:nvSpPr>
        <p:spPr>
          <a:xfrm>
            <a:off x="-289847" y="1143000"/>
            <a:ext cx="10693304" cy="1014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900"/>
              </a:lnSpc>
            </a:pPr>
            <a:r>
              <a:rPr lang="en-US" sz="24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https://github.com/Lurking-Demon/AquaGuard-AI-n8n/tree/main</a:t>
            </a:r>
            <a:endParaRPr lang="en-US" sz="2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48BA184-1269-DBBA-1E53-8BFDC6B30330}"/>
              </a:ext>
            </a:extLst>
          </p:cNvPr>
          <p:cNvSpPr/>
          <p:nvPr/>
        </p:nvSpPr>
        <p:spPr>
          <a:xfrm>
            <a:off x="640080" y="50292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66262DA-4C4C-AD89-08D8-7DAB3E1A9710}"/>
              </a:ext>
            </a:extLst>
          </p:cNvPr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CCC585E-C5F5-62CD-03D7-DF8918839CE2}"/>
              </a:ext>
            </a:extLst>
          </p:cNvPr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</a:t>
            </a:r>
            <a:endParaRPr lang="en-US" sz="9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7C39FC3-5DD0-694E-D7FF-FD4AB1A86C52}"/>
              </a:ext>
            </a:extLst>
          </p:cNvPr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F895BC-071F-3F87-FA07-D3B1CE82A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778" y="-1531620"/>
            <a:ext cx="4848301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DDDEBD1-98F9-3FEF-64BF-895E0DA1ED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8305" y="855611"/>
            <a:ext cx="886796" cy="66738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4146906-0D3C-81C8-AB7C-2FB5E52829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136" y="2414017"/>
            <a:ext cx="9242419" cy="392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171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E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A9E211-C3CF-6071-FE3E-FEB3B86D3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92E1413-F307-9260-1A3F-192A6B51D5EC}"/>
              </a:ext>
            </a:extLst>
          </p:cNvPr>
          <p:cNvSpPr/>
          <p:nvPr/>
        </p:nvSpPr>
        <p:spPr>
          <a:xfrm>
            <a:off x="91440" y="-91440"/>
            <a:ext cx="3840480" cy="3840480"/>
          </a:xfrm>
          <a:prstGeom prst="ellipse">
            <a:avLst/>
          </a:prstGeom>
          <a:ln w="19050">
            <a:solidFill>
              <a:srgbClr val="2EA89D">
                <a:alpha val="800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897DAE1-69D4-0336-525E-3FA220F8F765}"/>
              </a:ext>
            </a:extLst>
          </p:cNvPr>
          <p:cNvSpPr/>
          <p:nvPr/>
        </p:nvSpPr>
        <p:spPr>
          <a:xfrm>
            <a:off x="640080" y="457200"/>
            <a:ext cx="2743200" cy="2743200"/>
          </a:xfrm>
          <a:prstGeom prst="ellipse">
            <a:avLst/>
          </a:prstGeom>
          <a:ln w="19050">
            <a:solidFill>
              <a:srgbClr val="2EA89D">
                <a:alpha val="1400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6C71F60-2DB1-9569-3FE8-74345B164F66}"/>
              </a:ext>
            </a:extLst>
          </p:cNvPr>
          <p:cNvSpPr/>
          <p:nvPr/>
        </p:nvSpPr>
        <p:spPr>
          <a:xfrm>
            <a:off x="1554480" y="1371600"/>
            <a:ext cx="914400" cy="914400"/>
          </a:xfrm>
          <a:prstGeom prst="ellipse">
            <a:avLst/>
          </a:prstGeom>
          <a:solidFill>
            <a:srgbClr val="1B7A72"/>
          </a:solidFill>
          <a:ln/>
        </p:spPr>
      </p:sp>
      <p:pic>
        <p:nvPicPr>
          <p:cNvPr id="5" name="Image 0" descr="icons/droplet_F4F8F7.png">
            <a:extLst>
              <a:ext uri="{FF2B5EF4-FFF2-40B4-BE49-F238E27FC236}">
                <a16:creationId xmlns:a16="http://schemas.microsoft.com/office/drawing/2014/main" id="{95FCFB51-6A05-60D5-8423-6252A490B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352" y="1490472"/>
            <a:ext cx="676656" cy="67665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81525D2C-3959-E12D-7907-E768D8DCDA2B}"/>
              </a:ext>
            </a:extLst>
          </p:cNvPr>
          <p:cNvSpPr/>
          <p:nvPr/>
        </p:nvSpPr>
        <p:spPr>
          <a:xfrm>
            <a:off x="640080" y="28803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8F7"/>
                </a:solidFill>
                <a:latin typeface="Cambria" pitchFamily="34" charset="0"/>
                <a:ea typeface="Cambria" pitchFamily="34" charset="-122"/>
              </a:rPr>
              <a:t>Thank You</a:t>
            </a:r>
            <a:endParaRPr lang="en-US" sz="3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5190987-4747-0113-966E-C5C309D911D7}"/>
              </a:ext>
            </a:extLst>
          </p:cNvPr>
          <p:cNvSpPr/>
          <p:nvPr/>
        </p:nvSpPr>
        <p:spPr>
          <a:xfrm>
            <a:off x="640080" y="3794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20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By-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20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NEXUSSPELLS</a:t>
            </a:r>
            <a:r>
              <a:rPr lang="en-US" sz="14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4BE9C76-AF5C-EB04-B6FC-C795ACF4FC58}"/>
              </a:ext>
            </a:extLst>
          </p:cNvPr>
          <p:cNvSpPr/>
          <p:nvPr/>
        </p:nvSpPr>
        <p:spPr>
          <a:xfrm>
            <a:off x="640080" y="50292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E0B8B4D-2A84-46F8-DFEB-3358E0A49E44}"/>
              </a:ext>
            </a:extLst>
          </p:cNvPr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  ·  Founding Team  ·  NEXUSSPELLS</a:t>
            </a:r>
            <a:endParaRPr lang="en-US" sz="11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ED0F363-6C83-51EE-1960-5BADD41CC439}"/>
              </a:ext>
            </a:extLst>
          </p:cNvPr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 AI</a:t>
            </a:r>
            <a:endParaRPr lang="en-US" sz="9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16C66D3-16BE-C06E-D554-F9BCBA85636F}"/>
              </a:ext>
            </a:extLst>
          </p:cNvPr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31EFBBD-ACC9-940A-53CA-4396DD51D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065" y="1301776"/>
            <a:ext cx="5045655" cy="3797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877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1496</Words>
  <Application>Microsoft Office PowerPoint</Application>
  <PresentationFormat>Widescreen</PresentationFormat>
  <Paragraphs>292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Aditya Singh</cp:lastModifiedBy>
  <cp:revision>5</cp:revision>
  <dcterms:created xsi:type="dcterms:W3CDTF">2026-07-13T08:35:44Z</dcterms:created>
  <dcterms:modified xsi:type="dcterms:W3CDTF">2026-07-19T16:36:37Z</dcterms:modified>
</cp:coreProperties>
</file>