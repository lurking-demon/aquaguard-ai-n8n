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2.png" ContentType="image/png"/>
  <Override PartName="/ppt/media/image9.png" ContentType="image/pn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907588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23"/>
          <p:cNvSpPr/>
          <p:nvPr/>
        </p:nvSpPr>
        <p:spPr>
          <a:xfrm>
            <a:off x="244440" y="762120"/>
            <a:ext cx="9407520" cy="5638680"/>
          </a:xfrm>
          <a:prstGeom prst="rect">
            <a:avLst/>
          </a:prstGeom>
          <a:solidFill>
            <a:srgbClr val="ffffff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2400" spc="-1" strike="noStrike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1" name="TextBox 6"/>
          <p:cNvSpPr/>
          <p:nvPr/>
        </p:nvSpPr>
        <p:spPr>
          <a:xfrm>
            <a:off x="247680" y="304920"/>
            <a:ext cx="206388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GB" sz="1600" spc="-1" strike="noStrike">
                <a:solidFill>
                  <a:srgbClr val="444444"/>
                </a:solidFill>
                <a:latin typeface="Arial"/>
                <a:ea typeface="Arial"/>
              </a:rPr>
              <a:t>The Lean Canvas</a:t>
            </a:r>
            <a:endParaRPr b="0" lang="en-US" sz="1600" spc="-1" strike="noStrike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2" name="TextBox 7"/>
          <p:cNvSpPr/>
          <p:nvPr/>
        </p:nvSpPr>
        <p:spPr>
          <a:xfrm>
            <a:off x="3860640" y="184320"/>
            <a:ext cx="14036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i="1" lang="en-GB" sz="700" spc="-1" strike="noStrike">
                <a:solidFill>
                  <a:srgbClr val="444444"/>
                </a:solidFill>
                <a:latin typeface="Arial"/>
                <a:ea typeface="Arial"/>
              </a:rPr>
              <a:t>Designed for:</a:t>
            </a:r>
            <a:endParaRPr b="0" lang="en-US" sz="700" spc="-1" strike="noStrike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3" name="TextBox 8"/>
          <p:cNvSpPr/>
          <p:nvPr/>
        </p:nvSpPr>
        <p:spPr>
          <a:xfrm>
            <a:off x="5586480" y="181080"/>
            <a:ext cx="14032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i="1" lang="en-GB" sz="700" spc="-1" strike="noStrike">
                <a:solidFill>
                  <a:srgbClr val="444444"/>
                </a:solidFill>
                <a:latin typeface="Arial"/>
                <a:ea typeface="Arial"/>
              </a:rPr>
              <a:t>Designed by:</a:t>
            </a:r>
            <a:endParaRPr b="0" lang="en-US" sz="700" spc="-1" strike="noStrike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4" name="TextBox 9"/>
          <p:cNvSpPr/>
          <p:nvPr/>
        </p:nvSpPr>
        <p:spPr>
          <a:xfrm>
            <a:off x="7664400" y="181080"/>
            <a:ext cx="12146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i="1" lang="en-GB" sz="700" spc="-1" strike="noStrike">
                <a:solidFill>
                  <a:srgbClr val="444444"/>
                </a:solidFill>
                <a:latin typeface="Arial"/>
                <a:ea typeface="Arial"/>
              </a:rPr>
              <a:t>Date:</a:t>
            </a:r>
            <a:endParaRPr b="0" lang="en-US" sz="700" spc="-1" strike="noStrike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5" name="TextBox 10"/>
          <p:cNvSpPr/>
          <p:nvPr/>
        </p:nvSpPr>
        <p:spPr>
          <a:xfrm>
            <a:off x="9142560" y="181080"/>
            <a:ext cx="6206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i="1" lang="en-GB" sz="700" spc="-1" strike="noStrike">
                <a:solidFill>
                  <a:srgbClr val="444444"/>
                </a:solidFill>
                <a:latin typeface="Arial"/>
                <a:ea typeface="Arial"/>
              </a:rPr>
              <a:t>Version:</a:t>
            </a:r>
            <a:endParaRPr b="0" lang="en-US" sz="700" spc="-1" strike="noStrike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6" name="TextBox 11"/>
          <p:cNvSpPr/>
          <p:nvPr/>
        </p:nvSpPr>
        <p:spPr>
          <a:xfrm>
            <a:off x="244440" y="789120"/>
            <a:ext cx="17496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GB" sz="1000" spc="-1" strike="noStrike">
                <a:solidFill>
                  <a:srgbClr val="444444"/>
                </a:solidFill>
                <a:latin typeface="Arial"/>
                <a:ea typeface="Arial"/>
              </a:rPr>
              <a:t>Problem</a:t>
            </a:r>
            <a:endParaRPr b="0" lang="en-US" sz="1000" spc="-1" strike="noStrike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7" name="TextBox 12"/>
          <p:cNvSpPr/>
          <p:nvPr/>
        </p:nvSpPr>
        <p:spPr>
          <a:xfrm>
            <a:off x="244440" y="2649600"/>
            <a:ext cx="17496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GB" sz="1000" spc="-1" strike="noStrike">
                <a:solidFill>
                  <a:srgbClr val="444444"/>
                </a:solidFill>
                <a:latin typeface="Arial"/>
                <a:ea typeface="Arial"/>
              </a:rPr>
              <a:t>Existing Alternatives</a:t>
            </a:r>
            <a:endParaRPr b="0" lang="en-US" sz="1000" spc="-1" strike="noStrike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8" name="TextBox 13"/>
          <p:cNvSpPr/>
          <p:nvPr/>
        </p:nvSpPr>
        <p:spPr>
          <a:xfrm>
            <a:off x="244440" y="4572000"/>
            <a:ext cx="17496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GB" sz="1000" spc="-1" strike="noStrike">
                <a:solidFill>
                  <a:srgbClr val="444444"/>
                </a:solidFill>
                <a:latin typeface="Arial"/>
                <a:ea typeface="Arial"/>
              </a:rPr>
              <a:t>Cost Structure</a:t>
            </a:r>
            <a:endParaRPr b="0" lang="en-US" sz="1000" spc="-1" strike="noStrike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9" name="TextBox 14"/>
          <p:cNvSpPr/>
          <p:nvPr/>
        </p:nvSpPr>
        <p:spPr>
          <a:xfrm>
            <a:off x="2124000" y="789120"/>
            <a:ext cx="17510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GB" sz="1000" spc="-1" strike="noStrike">
                <a:solidFill>
                  <a:srgbClr val="444444"/>
                </a:solidFill>
                <a:latin typeface="Arial"/>
                <a:ea typeface="Arial"/>
              </a:rPr>
              <a:t>Solution</a:t>
            </a:r>
            <a:endParaRPr b="0" lang="en-US" sz="1000" spc="-1" strike="noStrike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10" name="TextBox 15"/>
          <p:cNvSpPr/>
          <p:nvPr/>
        </p:nvSpPr>
        <p:spPr>
          <a:xfrm>
            <a:off x="2124000" y="2649600"/>
            <a:ext cx="17510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GB" sz="1000" spc="-1" strike="noStrike">
                <a:solidFill>
                  <a:srgbClr val="444444"/>
                </a:solidFill>
                <a:latin typeface="Arial"/>
                <a:ea typeface="Arial"/>
              </a:rPr>
              <a:t>Key Metrics</a:t>
            </a:r>
            <a:endParaRPr b="0" lang="en-US" sz="1000" spc="-1" strike="noStrike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11" name="TextBox 16"/>
          <p:cNvSpPr/>
          <p:nvPr/>
        </p:nvSpPr>
        <p:spPr>
          <a:xfrm>
            <a:off x="4025880" y="789120"/>
            <a:ext cx="17496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GB" sz="1000" spc="-1" strike="noStrike">
                <a:solidFill>
                  <a:srgbClr val="444444"/>
                </a:solidFill>
                <a:latin typeface="Arial"/>
                <a:ea typeface="Arial"/>
              </a:rPr>
              <a:t>Unique Value Prop.</a:t>
            </a:r>
            <a:endParaRPr b="0" lang="en-US" sz="1000" spc="-1" strike="noStrike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12" name="TextBox 17"/>
          <p:cNvSpPr/>
          <p:nvPr/>
        </p:nvSpPr>
        <p:spPr>
          <a:xfrm>
            <a:off x="4025880" y="2649600"/>
            <a:ext cx="17496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GB" sz="1000" spc="-1" strike="noStrike">
                <a:solidFill>
                  <a:srgbClr val="444444"/>
                </a:solidFill>
                <a:latin typeface="Arial"/>
                <a:ea typeface="Arial"/>
              </a:rPr>
              <a:t>High-Level Concept</a:t>
            </a:r>
            <a:endParaRPr b="0" lang="en-US" sz="1000" spc="-1" strike="noStrike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13" name="TextBox 18"/>
          <p:cNvSpPr/>
          <p:nvPr/>
        </p:nvSpPr>
        <p:spPr>
          <a:xfrm>
            <a:off x="5919840" y="782640"/>
            <a:ext cx="17492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GB" sz="1000" spc="-1" strike="noStrike">
                <a:solidFill>
                  <a:srgbClr val="444444"/>
                </a:solidFill>
                <a:latin typeface="Arial"/>
                <a:ea typeface="Arial"/>
              </a:rPr>
              <a:t>Unfair Advantage</a:t>
            </a:r>
            <a:endParaRPr b="0" lang="en-US" sz="1000" spc="-1" strike="noStrike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14" name="TextBox 19"/>
          <p:cNvSpPr/>
          <p:nvPr/>
        </p:nvSpPr>
        <p:spPr>
          <a:xfrm>
            <a:off x="5919840" y="2643120"/>
            <a:ext cx="17492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GB" sz="1000" spc="-1" strike="noStrike">
                <a:solidFill>
                  <a:srgbClr val="444444"/>
                </a:solidFill>
                <a:latin typeface="Arial"/>
                <a:ea typeface="Arial"/>
              </a:rPr>
              <a:t>Channels</a:t>
            </a:r>
            <a:endParaRPr b="0" lang="en-US" sz="1000" spc="-1" strike="noStrike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15" name="TextBox 20"/>
          <p:cNvSpPr/>
          <p:nvPr/>
        </p:nvSpPr>
        <p:spPr>
          <a:xfrm>
            <a:off x="7818480" y="789120"/>
            <a:ext cx="17492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GB" sz="1000" spc="-1" strike="noStrike">
                <a:solidFill>
                  <a:srgbClr val="444444"/>
                </a:solidFill>
                <a:latin typeface="Arial"/>
                <a:ea typeface="Arial"/>
              </a:rPr>
              <a:t>Customer Segments</a:t>
            </a:r>
            <a:endParaRPr b="0" lang="en-US" sz="1000" spc="-1" strike="noStrike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16" name="TextBox 21"/>
          <p:cNvSpPr/>
          <p:nvPr/>
        </p:nvSpPr>
        <p:spPr>
          <a:xfrm>
            <a:off x="7818480" y="2649600"/>
            <a:ext cx="17492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GB" sz="1000" spc="-1" strike="noStrike">
                <a:solidFill>
                  <a:srgbClr val="444444"/>
                </a:solidFill>
                <a:latin typeface="Arial"/>
                <a:ea typeface="Arial"/>
              </a:rPr>
              <a:t>Early Adopters</a:t>
            </a:r>
            <a:endParaRPr b="0" lang="en-US" sz="1000" spc="-1" strike="noStrike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17" name="TextBox 22"/>
          <p:cNvSpPr/>
          <p:nvPr/>
        </p:nvSpPr>
        <p:spPr>
          <a:xfrm>
            <a:off x="4973760" y="4572000"/>
            <a:ext cx="17492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GB" sz="1000" spc="-1" strike="noStrike">
                <a:solidFill>
                  <a:srgbClr val="444444"/>
                </a:solidFill>
                <a:latin typeface="Arial"/>
                <a:ea typeface="Arial"/>
              </a:rPr>
              <a:t>Revenue Streams</a:t>
            </a:r>
            <a:endParaRPr b="0" lang="en-US" sz="1000" spc="-1" strike="noStrike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18" name="Rectangle 24"/>
          <p:cNvSpPr/>
          <p:nvPr/>
        </p:nvSpPr>
        <p:spPr>
          <a:xfrm>
            <a:off x="244440" y="762120"/>
            <a:ext cx="1879560" cy="3809880"/>
          </a:xfrm>
          <a:prstGeom prst="rect">
            <a:avLst/>
          </a:prstGeom>
          <a:noFill/>
          <a:ln w="936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2400" spc="-1" strike="noStrike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19" name="Rectangle 25"/>
          <p:cNvSpPr/>
          <p:nvPr/>
        </p:nvSpPr>
        <p:spPr>
          <a:xfrm>
            <a:off x="2124000" y="760320"/>
            <a:ext cx="1881360" cy="1882800"/>
          </a:xfrm>
          <a:prstGeom prst="rect">
            <a:avLst/>
          </a:prstGeom>
          <a:noFill/>
          <a:ln w="936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2400" spc="-1" strike="noStrike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20" name="Rectangle 26"/>
          <p:cNvSpPr/>
          <p:nvPr/>
        </p:nvSpPr>
        <p:spPr>
          <a:xfrm>
            <a:off x="2124000" y="2643120"/>
            <a:ext cx="1881360" cy="1928880"/>
          </a:xfrm>
          <a:prstGeom prst="rect">
            <a:avLst/>
          </a:prstGeom>
          <a:noFill/>
          <a:ln w="936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2400" spc="-1" strike="noStrike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21" name="Rectangle 27"/>
          <p:cNvSpPr/>
          <p:nvPr/>
        </p:nvSpPr>
        <p:spPr>
          <a:xfrm>
            <a:off x="4005360" y="762120"/>
            <a:ext cx="1879560" cy="3809880"/>
          </a:xfrm>
          <a:prstGeom prst="rect">
            <a:avLst/>
          </a:prstGeom>
          <a:noFill/>
          <a:ln w="936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2400" spc="-1" strike="noStrike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22" name="Rectangle 28"/>
          <p:cNvSpPr/>
          <p:nvPr/>
        </p:nvSpPr>
        <p:spPr>
          <a:xfrm>
            <a:off x="5884920" y="762120"/>
            <a:ext cx="1879560" cy="1882800"/>
          </a:xfrm>
          <a:prstGeom prst="rect">
            <a:avLst/>
          </a:prstGeom>
          <a:noFill/>
          <a:ln w="936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2400" spc="-1" strike="noStrike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23" name="Rectangle 29"/>
          <p:cNvSpPr/>
          <p:nvPr/>
        </p:nvSpPr>
        <p:spPr>
          <a:xfrm>
            <a:off x="5884920" y="2643120"/>
            <a:ext cx="1879560" cy="1928880"/>
          </a:xfrm>
          <a:prstGeom prst="rect">
            <a:avLst/>
          </a:prstGeom>
          <a:noFill/>
          <a:ln w="936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2400" spc="-1" strike="noStrike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24" name="Rectangle 30"/>
          <p:cNvSpPr/>
          <p:nvPr/>
        </p:nvSpPr>
        <p:spPr>
          <a:xfrm>
            <a:off x="7770960" y="762120"/>
            <a:ext cx="1881000" cy="3809880"/>
          </a:xfrm>
          <a:prstGeom prst="rect">
            <a:avLst/>
          </a:prstGeom>
          <a:noFill/>
          <a:ln w="936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2400" spc="-1" strike="noStrike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25" name="Rectangle 31"/>
          <p:cNvSpPr/>
          <p:nvPr/>
        </p:nvSpPr>
        <p:spPr>
          <a:xfrm>
            <a:off x="244440" y="4579920"/>
            <a:ext cx="4713480" cy="1820880"/>
          </a:xfrm>
          <a:prstGeom prst="rect">
            <a:avLst/>
          </a:prstGeom>
          <a:noFill/>
          <a:ln w="936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2400" spc="-1" strike="noStrike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26" name="Rectangle 32"/>
          <p:cNvSpPr/>
          <p:nvPr/>
        </p:nvSpPr>
        <p:spPr>
          <a:xfrm>
            <a:off x="4957920" y="4579920"/>
            <a:ext cx="4692600" cy="1820880"/>
          </a:xfrm>
          <a:prstGeom prst="rect">
            <a:avLst/>
          </a:prstGeom>
          <a:noFill/>
          <a:ln w="936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2400" spc="-1" strike="noStrike">
              <a:solidFill>
                <a:srgbClr val="444444"/>
              </a:solidFill>
              <a:latin typeface="Calibri"/>
            </a:endParaRPr>
          </a:p>
        </p:txBody>
      </p:sp>
      <p:pic>
        <p:nvPicPr>
          <p:cNvPr id="27" name="Picture 37" descr="channels.png"/>
          <p:cNvPicPr/>
          <p:nvPr/>
        </p:nvPicPr>
        <p:blipFill>
          <a:blip r:embed="rId2"/>
          <a:stretch/>
        </p:blipFill>
        <p:spPr>
          <a:xfrm>
            <a:off x="7326360" y="2625840"/>
            <a:ext cx="288720" cy="288720"/>
          </a:xfrm>
          <a:prstGeom prst="rect">
            <a:avLst/>
          </a:prstGeom>
          <a:ln w="0">
            <a:noFill/>
          </a:ln>
        </p:spPr>
      </p:pic>
      <p:pic>
        <p:nvPicPr>
          <p:cNvPr id="28" name="Picture 38" descr="cost-structure.png"/>
          <p:cNvPicPr/>
          <p:nvPr/>
        </p:nvPicPr>
        <p:blipFill>
          <a:blip r:embed="rId3"/>
          <a:stretch/>
        </p:blipFill>
        <p:spPr>
          <a:xfrm>
            <a:off x="4605480" y="4572000"/>
            <a:ext cx="288720" cy="287280"/>
          </a:xfrm>
          <a:prstGeom prst="rect">
            <a:avLst/>
          </a:prstGeom>
          <a:ln w="0">
            <a:noFill/>
          </a:ln>
        </p:spPr>
      </p:pic>
      <p:pic>
        <p:nvPicPr>
          <p:cNvPr id="29" name="Picture 39" descr="customer-segments.png"/>
          <p:cNvPicPr/>
          <p:nvPr/>
        </p:nvPicPr>
        <p:blipFill>
          <a:blip r:embed="rId4"/>
          <a:stretch/>
        </p:blipFill>
        <p:spPr>
          <a:xfrm>
            <a:off x="9255240" y="762120"/>
            <a:ext cx="288720" cy="287280"/>
          </a:xfrm>
          <a:prstGeom prst="rect">
            <a:avLst/>
          </a:prstGeom>
          <a:ln w="0">
            <a:noFill/>
          </a:ln>
        </p:spPr>
      </p:pic>
      <p:pic>
        <p:nvPicPr>
          <p:cNvPr id="30" name="Picture 40" descr="early-adopters.png"/>
          <p:cNvPicPr/>
          <p:nvPr/>
        </p:nvPicPr>
        <p:blipFill>
          <a:blip r:embed="rId5"/>
          <a:stretch/>
        </p:blipFill>
        <p:spPr>
          <a:xfrm>
            <a:off x="9255240" y="2606760"/>
            <a:ext cx="288720" cy="287280"/>
          </a:xfrm>
          <a:prstGeom prst="rect">
            <a:avLst/>
          </a:prstGeom>
          <a:ln w="0">
            <a:noFill/>
          </a:ln>
        </p:spPr>
      </p:pic>
      <p:pic>
        <p:nvPicPr>
          <p:cNvPr id="31" name="Picture 41" descr="existing-alternatives.png"/>
          <p:cNvPicPr/>
          <p:nvPr/>
        </p:nvPicPr>
        <p:blipFill>
          <a:blip r:embed="rId6"/>
          <a:stretch/>
        </p:blipFill>
        <p:spPr>
          <a:xfrm>
            <a:off x="1752480" y="2625840"/>
            <a:ext cx="287280" cy="288720"/>
          </a:xfrm>
          <a:prstGeom prst="rect">
            <a:avLst/>
          </a:prstGeom>
          <a:ln w="0">
            <a:noFill/>
          </a:ln>
        </p:spPr>
      </p:pic>
      <p:pic>
        <p:nvPicPr>
          <p:cNvPr id="32" name="Picture 42" descr="high-level-concept.png"/>
          <p:cNvPicPr/>
          <p:nvPr/>
        </p:nvPicPr>
        <p:blipFill>
          <a:blip r:embed="rId7"/>
          <a:stretch/>
        </p:blipFill>
        <p:spPr>
          <a:xfrm>
            <a:off x="5532480" y="2625840"/>
            <a:ext cx="288720" cy="288720"/>
          </a:xfrm>
          <a:prstGeom prst="rect">
            <a:avLst/>
          </a:prstGeom>
          <a:ln w="0">
            <a:noFill/>
          </a:ln>
        </p:spPr>
      </p:pic>
      <p:pic>
        <p:nvPicPr>
          <p:cNvPr id="33" name="Picture 44" descr="key-metrics.png"/>
          <p:cNvPicPr/>
          <p:nvPr/>
        </p:nvPicPr>
        <p:blipFill>
          <a:blip r:embed="rId8"/>
          <a:stretch/>
        </p:blipFill>
        <p:spPr>
          <a:xfrm>
            <a:off x="3652920" y="2625840"/>
            <a:ext cx="288720" cy="288720"/>
          </a:xfrm>
          <a:prstGeom prst="rect">
            <a:avLst/>
          </a:prstGeom>
          <a:ln w="0">
            <a:noFill/>
          </a:ln>
        </p:spPr>
      </p:pic>
      <p:pic>
        <p:nvPicPr>
          <p:cNvPr id="34" name="Picture 45" descr="problem.png"/>
          <p:cNvPicPr/>
          <p:nvPr/>
        </p:nvPicPr>
        <p:blipFill>
          <a:blip r:embed="rId9"/>
          <a:stretch/>
        </p:blipFill>
        <p:spPr>
          <a:xfrm>
            <a:off x="1752480" y="762120"/>
            <a:ext cx="287280" cy="287280"/>
          </a:xfrm>
          <a:prstGeom prst="rect">
            <a:avLst/>
          </a:prstGeom>
          <a:ln w="0">
            <a:noFill/>
          </a:ln>
        </p:spPr>
      </p:pic>
      <p:pic>
        <p:nvPicPr>
          <p:cNvPr id="35" name="Picture 46" descr="revenue-streams.png"/>
          <p:cNvPicPr/>
          <p:nvPr/>
        </p:nvPicPr>
        <p:blipFill>
          <a:blip r:embed="rId10"/>
          <a:stretch/>
        </p:blipFill>
        <p:spPr>
          <a:xfrm>
            <a:off x="9255240" y="4572000"/>
            <a:ext cx="288720" cy="287280"/>
          </a:xfrm>
          <a:prstGeom prst="rect">
            <a:avLst/>
          </a:prstGeom>
          <a:ln w="0">
            <a:noFill/>
          </a:ln>
        </p:spPr>
      </p:pic>
      <p:pic>
        <p:nvPicPr>
          <p:cNvPr id="36" name="Picture 47" descr="solution.png"/>
          <p:cNvPicPr/>
          <p:nvPr/>
        </p:nvPicPr>
        <p:blipFill>
          <a:blip r:embed="rId11"/>
          <a:stretch/>
        </p:blipFill>
        <p:spPr>
          <a:xfrm>
            <a:off x="3652920" y="768240"/>
            <a:ext cx="288720" cy="287280"/>
          </a:xfrm>
          <a:prstGeom prst="rect">
            <a:avLst/>
          </a:prstGeom>
          <a:ln w="0">
            <a:noFill/>
          </a:ln>
        </p:spPr>
      </p:pic>
      <p:pic>
        <p:nvPicPr>
          <p:cNvPr id="37" name="Picture 48" descr="unfair-advantage.png"/>
          <p:cNvPicPr/>
          <p:nvPr/>
        </p:nvPicPr>
        <p:blipFill>
          <a:blip r:embed="rId12"/>
          <a:stretch/>
        </p:blipFill>
        <p:spPr>
          <a:xfrm>
            <a:off x="7326360" y="762120"/>
            <a:ext cx="288720" cy="287280"/>
          </a:xfrm>
          <a:prstGeom prst="rect">
            <a:avLst/>
          </a:prstGeom>
          <a:ln w="0">
            <a:noFill/>
          </a:ln>
        </p:spPr>
      </p:pic>
      <p:pic>
        <p:nvPicPr>
          <p:cNvPr id="38" name="Picture 49" descr="unique-value-proposition.png"/>
          <p:cNvPicPr/>
          <p:nvPr/>
        </p:nvPicPr>
        <p:blipFill>
          <a:blip r:embed="rId13"/>
          <a:stretch/>
        </p:blipFill>
        <p:spPr>
          <a:xfrm>
            <a:off x="5532480" y="762120"/>
            <a:ext cx="288720" cy="2872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/>
          </p:nvPr>
        </p:nvSpPr>
        <p:spPr>
          <a:xfrm>
            <a:off x="309240" y="1066320"/>
            <a:ext cx="1754280" cy="15303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224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GB" sz="900" spc="-1" strike="noStrike">
                <a:solidFill>
                  <a:srgbClr val="444444"/>
                </a:solidFill>
                <a:latin typeface="Arial"/>
              </a:rPr>
              <a:t>Pollution often goes undetected for hours or days</a:t>
            </a:r>
            <a:endParaRPr b="0" lang="en-US" sz="900" spc="-1" strike="noStrike">
              <a:solidFill>
                <a:srgbClr val="444444"/>
              </a:solidFill>
              <a:latin typeface="Arial"/>
            </a:endParaRPr>
          </a:p>
          <a:p>
            <a:pPr indent="0">
              <a:spcBef>
                <a:spcPts val="224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GB" sz="900" spc="-1" strike="noStrike">
                <a:solidFill>
                  <a:srgbClr val="444444"/>
                </a:solidFill>
                <a:latin typeface="Arial"/>
              </a:rPr>
              <a:t>Manual testing is slow, infrequent, needs experts</a:t>
            </a:r>
            <a:endParaRPr b="0" lang="en-US" sz="900" spc="-1" strike="noStrike">
              <a:solidFill>
                <a:srgbClr val="444444"/>
              </a:solidFill>
              <a:latin typeface="Arial"/>
            </a:endParaRPr>
          </a:p>
          <a:p>
            <a:pPr indent="0">
              <a:spcBef>
                <a:spcPts val="224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GB" sz="900" spc="-1" strike="noStrike">
                <a:solidFill>
                  <a:srgbClr val="444444"/>
                </a:solidFill>
                <a:latin typeface="Arial"/>
              </a:rPr>
              <a:t>Agencies react only after damage is visible</a:t>
            </a:r>
            <a:endParaRPr b="0" lang="en-US" sz="900" spc="-1" strike="noStrike">
              <a:solidFill>
                <a:srgbClr val="444444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2185560" y="1066320"/>
            <a:ext cx="1754280" cy="15303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224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GB" sz="900" spc="-1" strike="noStrike">
                <a:solidFill>
                  <a:srgbClr val="444444"/>
                </a:solidFill>
                <a:latin typeface="Arial"/>
              </a:rPr>
              <a:t>Hourly automated pH / turbidity / O2 monitoring</a:t>
            </a:r>
            <a:endParaRPr b="0" lang="en-US" sz="900" spc="-1" strike="noStrike">
              <a:solidFill>
                <a:srgbClr val="444444"/>
              </a:solidFill>
              <a:latin typeface="Arial"/>
            </a:endParaRPr>
          </a:p>
          <a:p>
            <a:pPr indent="0">
              <a:spcBef>
                <a:spcPts val="224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GB" sz="900" spc="-1" strike="noStrike">
                <a:solidFill>
                  <a:srgbClr val="444444"/>
                </a:solidFill>
                <a:latin typeface="Arial"/>
              </a:rPr>
              <a:t>AI-written pollution &amp; impact assessment</a:t>
            </a:r>
            <a:endParaRPr b="0" lang="en-US" sz="900" spc="-1" strike="noStrike">
              <a:solidFill>
                <a:srgbClr val="444444"/>
              </a:solidFill>
              <a:latin typeface="Arial"/>
            </a:endParaRPr>
          </a:p>
          <a:p>
            <a:pPr indent="0">
              <a:spcBef>
                <a:spcPts val="224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GB" sz="900" spc="-1" strike="noStrike">
                <a:solidFill>
                  <a:srgbClr val="444444"/>
                </a:solidFill>
                <a:latin typeface="Arial"/>
              </a:rPr>
              <a:t>Instant authority alerts + incident log</a:t>
            </a:r>
            <a:endParaRPr b="0" lang="en-US" sz="900" spc="-1" strike="noStrike">
              <a:solidFill>
                <a:srgbClr val="444444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4067280" y="1066320"/>
            <a:ext cx="1753920" cy="15303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224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GB" sz="900" spc="-1" strike="noStrike">
                <a:solidFill>
                  <a:srgbClr val="444444"/>
                </a:solidFill>
                <a:latin typeface="Arial"/>
              </a:rPr>
              <a:t>Turns sensor readings into an AI-written pollution report and authority alert — in minutes, not days</a:t>
            </a:r>
            <a:endParaRPr b="0" lang="en-US" sz="900" spc="-1" strike="noStrike">
              <a:solidFill>
                <a:srgbClr val="444444"/>
              </a:solidFill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5947920" y="1055160"/>
            <a:ext cx="1754280" cy="15303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224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GB" sz="900" spc="-1" strike="noStrike">
                <a:solidFill>
                  <a:srgbClr val="444444"/>
                </a:solidFill>
                <a:latin typeface="Arial"/>
              </a:rPr>
              <a:t>Detection-to-alert pipeline paired with a domain-tuned AI "scientist" agent, plus a growing incident dataset</a:t>
            </a:r>
            <a:endParaRPr b="0" lang="en-US" sz="900" spc="-1" strike="noStrike">
              <a:solidFill>
                <a:srgbClr val="444444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7835400" y="1055160"/>
            <a:ext cx="1754280" cy="15303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224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GB" sz="900" spc="-1" strike="noStrike">
                <a:solidFill>
                  <a:srgbClr val="444444"/>
                </a:solidFill>
                <a:latin typeface="Arial"/>
              </a:rPr>
              <a:t>Municipal water authorities</a:t>
            </a:r>
            <a:endParaRPr b="0" lang="en-US" sz="900" spc="-1" strike="noStrike">
              <a:solidFill>
                <a:srgbClr val="444444"/>
              </a:solidFill>
              <a:latin typeface="Arial"/>
            </a:endParaRPr>
          </a:p>
          <a:p>
            <a:pPr indent="0">
              <a:spcBef>
                <a:spcPts val="224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GB" sz="900" spc="-1" strike="noStrike">
                <a:solidFill>
                  <a:srgbClr val="444444"/>
                </a:solidFill>
                <a:latin typeface="Arial"/>
              </a:rPr>
              <a:t>Environmental protection agencies</a:t>
            </a:r>
            <a:endParaRPr b="0" lang="en-US" sz="900" spc="-1" strike="noStrike">
              <a:solidFill>
                <a:srgbClr val="444444"/>
              </a:solidFill>
              <a:latin typeface="Arial"/>
            </a:endParaRPr>
          </a:p>
          <a:p>
            <a:pPr indent="0">
              <a:spcBef>
                <a:spcPts val="224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GB" sz="900" spc="-1" strike="noStrike">
                <a:solidFill>
                  <a:srgbClr val="444444"/>
                </a:solidFill>
                <a:latin typeface="Arial"/>
              </a:rPr>
              <a:t>Industrial wastewater sites</a:t>
            </a:r>
            <a:endParaRPr b="0" lang="en-US" sz="900" spc="-1" strike="noStrike">
              <a:solidFill>
                <a:srgbClr val="444444"/>
              </a:solidFill>
              <a:latin typeface="Arial"/>
            </a:endParaRPr>
          </a:p>
          <a:p>
            <a:pPr indent="0">
              <a:spcBef>
                <a:spcPts val="224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GB" sz="900" spc="-1" strike="noStrike">
                <a:solidFill>
                  <a:srgbClr val="444444"/>
                </a:solidFill>
                <a:latin typeface="Arial"/>
              </a:rPr>
              <a:t>Aquaculture &amp; fisheries operators</a:t>
            </a:r>
            <a:endParaRPr b="0" lang="en-US" sz="900" spc="-1" strike="noStrike">
              <a:solidFill>
                <a:srgbClr val="444444"/>
              </a:solidFill>
              <a:latin typeface="Arial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09240" y="2964960"/>
            <a:ext cx="1754280" cy="15303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224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GB" sz="900" spc="-1" strike="noStrike">
                <a:solidFill>
                  <a:srgbClr val="444444"/>
                </a:solidFill>
                <a:latin typeface="Arial"/>
              </a:rPr>
              <a:t>Manual lab water sampling</a:t>
            </a:r>
            <a:endParaRPr b="0" lang="en-US" sz="900" spc="-1" strike="noStrike">
              <a:solidFill>
                <a:srgbClr val="444444"/>
              </a:solidFill>
              <a:latin typeface="Arial"/>
            </a:endParaRPr>
          </a:p>
          <a:p>
            <a:pPr indent="0">
              <a:spcBef>
                <a:spcPts val="224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GB" sz="900" spc="-1" strike="noStrike">
                <a:solidFill>
                  <a:srgbClr val="444444"/>
                </a:solidFill>
                <a:latin typeface="Arial"/>
              </a:rPr>
              <a:t>Static IoT dashboards nobody watches live</a:t>
            </a:r>
            <a:endParaRPr b="0" lang="en-US" sz="900" spc="-1" strike="noStrike">
              <a:solidFill>
                <a:srgbClr val="444444"/>
              </a:solidFill>
              <a:latin typeface="Arial"/>
            </a:endParaRPr>
          </a:p>
          <a:p>
            <a:pPr indent="0">
              <a:spcBef>
                <a:spcPts val="224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GB" sz="900" spc="-1" strike="noStrike">
                <a:solidFill>
                  <a:srgbClr val="444444"/>
                </a:solidFill>
                <a:latin typeface="Arial"/>
              </a:rPr>
              <a:t>Waiting for public complaints</a:t>
            </a:r>
            <a:endParaRPr b="0" lang="en-US" sz="900" spc="-1" strike="noStrike">
              <a:solidFill>
                <a:srgbClr val="444444"/>
              </a:solidFill>
              <a:latin typeface="Arial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2196720" y="2964960"/>
            <a:ext cx="1754280" cy="15303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224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GB" sz="900" spc="-1" strike="noStrike">
                <a:solidFill>
                  <a:srgbClr val="444444"/>
                </a:solidFill>
                <a:latin typeface="Arial"/>
              </a:rPr>
              <a:t>Readings processed per hour</a:t>
            </a:r>
            <a:endParaRPr b="0" lang="en-US" sz="900" spc="-1" strike="noStrike">
              <a:solidFill>
                <a:srgbClr val="444444"/>
              </a:solidFill>
              <a:latin typeface="Arial"/>
            </a:endParaRPr>
          </a:p>
          <a:p>
            <a:pPr indent="0">
              <a:spcBef>
                <a:spcPts val="224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GB" sz="900" spc="-1" strike="noStrike">
                <a:solidFill>
                  <a:srgbClr val="444444"/>
                </a:solidFill>
                <a:latin typeface="Arial"/>
              </a:rPr>
              <a:t>Incidents detected</a:t>
            </a:r>
            <a:endParaRPr b="0" lang="en-US" sz="900" spc="-1" strike="noStrike">
              <a:solidFill>
                <a:srgbClr val="444444"/>
              </a:solidFill>
              <a:latin typeface="Arial"/>
            </a:endParaRPr>
          </a:p>
          <a:p>
            <a:pPr indent="0">
              <a:spcBef>
                <a:spcPts val="224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GB" sz="900" spc="-1" strike="noStrike">
                <a:solidFill>
                  <a:srgbClr val="444444"/>
                </a:solidFill>
                <a:latin typeface="Arial"/>
              </a:rPr>
              <a:t>Time from detection to alert</a:t>
            </a:r>
            <a:endParaRPr b="0" lang="en-US" sz="900" spc="-1" strike="noStrike">
              <a:solidFill>
                <a:srgbClr val="444444"/>
              </a:solidFill>
              <a:latin typeface="Arial"/>
            </a:endParaRPr>
          </a:p>
          <a:p>
            <a:pPr indent="0">
              <a:spcBef>
                <a:spcPts val="224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GB" sz="900" spc="-1" strike="noStrike">
                <a:solidFill>
                  <a:srgbClr val="444444"/>
                </a:solidFill>
                <a:latin typeface="Arial"/>
              </a:rPr>
              <a:t>False positive rate</a:t>
            </a:r>
            <a:endParaRPr b="0" lang="en-US" sz="900" spc="-1" strike="noStrike">
              <a:solidFill>
                <a:srgbClr val="444444"/>
              </a:solidFill>
              <a:latin typeface="Arial"/>
            </a:endParaRPr>
          </a:p>
        </p:txBody>
      </p:sp>
      <p:sp>
        <p:nvSpPr>
          <p:cNvPr id="46" name="PlaceHolder 8"/>
          <p:cNvSpPr>
            <a:spLocks noGrp="1"/>
          </p:cNvSpPr>
          <p:nvPr>
            <p:ph/>
          </p:nvPr>
        </p:nvSpPr>
        <p:spPr>
          <a:xfrm>
            <a:off x="4071600" y="2964960"/>
            <a:ext cx="1755720" cy="15303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224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GB" sz="900" spc="-1" strike="noStrike">
                <a:solidFill>
                  <a:srgbClr val="444444"/>
                </a:solidFill>
                <a:latin typeface="Arial"/>
              </a:rPr>
              <a:t>"A smoke alarm for waterways"</a:t>
            </a:r>
            <a:endParaRPr b="0" lang="en-US" sz="900" spc="-1" strike="noStrike">
              <a:solidFill>
                <a:srgbClr val="444444"/>
              </a:solidFill>
              <a:latin typeface="Arial"/>
            </a:endParaRPr>
          </a:p>
        </p:txBody>
      </p:sp>
      <p:sp>
        <p:nvSpPr>
          <p:cNvPr id="47" name="PlaceHolder 9"/>
          <p:cNvSpPr>
            <a:spLocks noGrp="1"/>
          </p:cNvSpPr>
          <p:nvPr>
            <p:ph/>
          </p:nvPr>
        </p:nvSpPr>
        <p:spPr>
          <a:xfrm>
            <a:off x="5951160" y="2964960"/>
            <a:ext cx="1754280" cy="15303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224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GB" sz="900" spc="-1" strike="noStrike">
                <a:solidFill>
                  <a:srgbClr val="444444"/>
                </a:solidFill>
                <a:latin typeface="Arial"/>
              </a:rPr>
              <a:t>Municipal water authorities</a:t>
            </a:r>
            <a:endParaRPr b="0" lang="en-US" sz="900" spc="-1" strike="noStrike">
              <a:solidFill>
                <a:srgbClr val="444444"/>
              </a:solidFill>
              <a:latin typeface="Arial"/>
            </a:endParaRPr>
          </a:p>
          <a:p>
            <a:pPr indent="0">
              <a:spcBef>
                <a:spcPts val="224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GB" sz="900" spc="-1" strike="noStrike">
                <a:solidFill>
                  <a:srgbClr val="444444"/>
                </a:solidFill>
                <a:latin typeface="Arial"/>
              </a:rPr>
              <a:t>Utility &amp; IoT sensor partnerships</a:t>
            </a:r>
            <a:endParaRPr b="0" lang="en-US" sz="900" spc="-1" strike="noStrike">
              <a:solidFill>
                <a:srgbClr val="444444"/>
              </a:solidFill>
              <a:latin typeface="Arial"/>
            </a:endParaRPr>
          </a:p>
          <a:p>
            <a:pPr indent="0">
              <a:spcBef>
                <a:spcPts val="224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GB" sz="900" spc="-1" strike="noStrike">
                <a:solidFill>
                  <a:srgbClr val="444444"/>
                </a:solidFill>
                <a:latin typeface="Arial"/>
              </a:rPr>
              <a:t>Environmental NGOs</a:t>
            </a:r>
            <a:endParaRPr b="0" lang="en-US" sz="900" spc="-1" strike="noStrike">
              <a:solidFill>
                <a:srgbClr val="444444"/>
              </a:solidFill>
              <a:latin typeface="Arial"/>
            </a:endParaRPr>
          </a:p>
          <a:p>
            <a:pPr indent="0">
              <a:spcBef>
                <a:spcPts val="224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GB" sz="900" spc="-1" strike="noStrike">
                <a:solidFill>
                  <a:srgbClr val="444444"/>
                </a:solidFill>
                <a:latin typeface="Arial"/>
              </a:rPr>
              <a:t>Government tenders</a:t>
            </a:r>
            <a:endParaRPr b="0" lang="en-US" sz="900" spc="-1" strike="noStrike">
              <a:solidFill>
                <a:srgbClr val="444444"/>
              </a:solidFill>
              <a:latin typeface="Arial"/>
            </a:endParaRPr>
          </a:p>
        </p:txBody>
      </p:sp>
      <p:sp>
        <p:nvSpPr>
          <p:cNvPr id="48" name="PlaceHolder 10"/>
          <p:cNvSpPr>
            <a:spLocks noGrp="1"/>
          </p:cNvSpPr>
          <p:nvPr>
            <p:ph/>
          </p:nvPr>
        </p:nvSpPr>
        <p:spPr>
          <a:xfrm>
            <a:off x="7835400" y="2964960"/>
            <a:ext cx="1754280" cy="15303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224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GB" sz="900" spc="-1" strike="noStrike">
                <a:solidFill>
                  <a:srgbClr val="444444"/>
                </a:solidFill>
                <a:latin typeface="Arial"/>
              </a:rPr>
              <a:t>Water districts with sensors but no automated alerting</a:t>
            </a:r>
            <a:endParaRPr b="0" lang="en-US" sz="900" spc="-1" strike="noStrike">
              <a:solidFill>
                <a:srgbClr val="444444"/>
              </a:solidFill>
              <a:latin typeface="Arial"/>
            </a:endParaRPr>
          </a:p>
          <a:p>
            <a:pPr indent="0">
              <a:spcBef>
                <a:spcPts val="224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GB" sz="900" spc="-1" strike="noStrike">
                <a:solidFill>
                  <a:srgbClr val="444444"/>
                </a:solidFill>
                <a:latin typeface="Arial"/>
              </a:rPr>
              <a:t>River &amp; lake conservation NGOs</a:t>
            </a:r>
            <a:endParaRPr b="0" lang="en-US" sz="900" spc="-1" strike="noStrike">
              <a:solidFill>
                <a:srgbClr val="444444"/>
              </a:solidFill>
              <a:latin typeface="Arial"/>
            </a:endParaRPr>
          </a:p>
          <a:p>
            <a:pPr indent="0">
              <a:spcBef>
                <a:spcPts val="224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GB" sz="900" spc="-1" strike="noStrike">
                <a:solidFill>
                  <a:srgbClr val="444444"/>
                </a:solidFill>
                <a:latin typeface="Arial"/>
              </a:rPr>
              <a:t>Industrial sites under regulatory pressure to self-monitor</a:t>
            </a:r>
            <a:endParaRPr b="0" lang="en-US" sz="900" spc="-1" strike="noStrike">
              <a:solidFill>
                <a:srgbClr val="444444"/>
              </a:solidFill>
              <a:latin typeface="Arial"/>
            </a:endParaRPr>
          </a:p>
        </p:txBody>
      </p:sp>
      <p:sp>
        <p:nvSpPr>
          <p:cNvPr id="49" name="PlaceHolder 11"/>
          <p:cNvSpPr>
            <a:spLocks noGrp="1"/>
          </p:cNvSpPr>
          <p:nvPr>
            <p:ph/>
          </p:nvPr>
        </p:nvSpPr>
        <p:spPr>
          <a:xfrm>
            <a:off x="309240" y="4876560"/>
            <a:ext cx="4560840" cy="1447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224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GB" sz="900" spc="-1" strike="noStrike">
                <a:solidFill>
                  <a:srgbClr val="444444"/>
                </a:solidFill>
                <a:latin typeface="Arial"/>
              </a:rPr>
              <a:t>Sensor / data feed costs</a:t>
            </a:r>
            <a:endParaRPr b="0" lang="en-US" sz="900" spc="-1" strike="noStrike">
              <a:solidFill>
                <a:srgbClr val="444444"/>
              </a:solidFill>
              <a:latin typeface="Arial"/>
            </a:endParaRPr>
          </a:p>
          <a:p>
            <a:pPr indent="0">
              <a:spcBef>
                <a:spcPts val="224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GB" sz="900" spc="-1" strike="noStrike">
                <a:solidFill>
                  <a:srgbClr val="444444"/>
                </a:solidFill>
                <a:latin typeface="Arial"/>
              </a:rPr>
              <a:t>Cloud &amp; automation hosting</a:t>
            </a:r>
            <a:endParaRPr b="0" lang="en-US" sz="900" spc="-1" strike="noStrike">
              <a:solidFill>
                <a:srgbClr val="444444"/>
              </a:solidFill>
              <a:latin typeface="Arial"/>
            </a:endParaRPr>
          </a:p>
          <a:p>
            <a:pPr indent="0">
              <a:spcBef>
                <a:spcPts val="224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GB" sz="900" spc="-1" strike="noStrike">
                <a:solidFill>
                  <a:srgbClr val="444444"/>
                </a:solidFill>
                <a:latin typeface="Arial"/>
              </a:rPr>
              <a:t>AI / LLM API usage per assessment</a:t>
            </a:r>
            <a:endParaRPr b="0" lang="en-US" sz="900" spc="-1" strike="noStrike">
              <a:solidFill>
                <a:srgbClr val="444444"/>
              </a:solidFill>
              <a:latin typeface="Arial"/>
            </a:endParaRPr>
          </a:p>
          <a:p>
            <a:pPr indent="0">
              <a:spcBef>
                <a:spcPts val="224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GB" sz="900" spc="-1" strike="noStrike">
                <a:solidFill>
                  <a:srgbClr val="444444"/>
                </a:solidFill>
                <a:latin typeface="Arial"/>
              </a:rPr>
              <a:t>Customer acquisition</a:t>
            </a:r>
            <a:endParaRPr b="0" lang="en-US" sz="900" spc="-1" strike="noStrike">
              <a:solidFill>
                <a:srgbClr val="444444"/>
              </a:solidFill>
              <a:latin typeface="Arial"/>
            </a:endParaRPr>
          </a:p>
          <a:p>
            <a:pPr indent="0">
              <a:spcBef>
                <a:spcPts val="224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GB" sz="900" spc="-1" strike="noStrike">
                <a:solidFill>
                  <a:srgbClr val="444444"/>
                </a:solidFill>
                <a:latin typeface="Arial"/>
              </a:rPr>
              <a:t>Engineering &amp; compliance staff</a:t>
            </a:r>
            <a:endParaRPr b="0" lang="en-US" sz="900" spc="-1" strike="noStrike">
              <a:solidFill>
                <a:srgbClr val="444444"/>
              </a:solidFill>
              <a:latin typeface="Arial"/>
            </a:endParaRPr>
          </a:p>
        </p:txBody>
      </p:sp>
      <p:sp>
        <p:nvSpPr>
          <p:cNvPr id="50" name="PlaceHolder 12"/>
          <p:cNvSpPr>
            <a:spLocks noGrp="1"/>
          </p:cNvSpPr>
          <p:nvPr>
            <p:ph/>
          </p:nvPr>
        </p:nvSpPr>
        <p:spPr>
          <a:xfrm>
            <a:off x="5056200" y="4876560"/>
            <a:ext cx="4533840" cy="1447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224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GB" sz="900" spc="-1" strike="noStrike">
                <a:solidFill>
                  <a:srgbClr val="444444"/>
                </a:solidFill>
                <a:latin typeface="Arial"/>
              </a:rPr>
              <a:t>Per-site monthly subscription</a:t>
            </a:r>
            <a:endParaRPr b="0" lang="en-US" sz="900" spc="-1" strike="noStrike">
              <a:solidFill>
                <a:srgbClr val="444444"/>
              </a:solidFill>
              <a:latin typeface="Arial"/>
            </a:endParaRPr>
          </a:p>
          <a:p>
            <a:pPr indent="0">
              <a:spcBef>
                <a:spcPts val="224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GB" sz="900" spc="-1" strike="noStrike">
                <a:solidFill>
                  <a:srgbClr val="444444"/>
                </a:solidFill>
                <a:latin typeface="Arial"/>
              </a:rPr>
              <a:t>Tiered pricing by monitoring points</a:t>
            </a:r>
            <a:endParaRPr b="0" lang="en-US" sz="900" spc="-1" strike="noStrike">
              <a:solidFill>
                <a:srgbClr val="444444"/>
              </a:solidFill>
              <a:latin typeface="Arial"/>
            </a:endParaRPr>
          </a:p>
          <a:p>
            <a:pPr indent="0">
              <a:spcBef>
                <a:spcPts val="224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GB" sz="900" spc="-1" strike="noStrike">
                <a:solidFill>
                  <a:srgbClr val="444444"/>
                </a:solidFill>
                <a:latin typeface="Arial"/>
              </a:rPr>
              <a:t>Incident-response consulting</a:t>
            </a:r>
            <a:endParaRPr b="0" lang="en-US" sz="900" spc="-1" strike="noStrike">
              <a:solidFill>
                <a:srgbClr val="444444"/>
              </a:solidFill>
              <a:latin typeface="Arial"/>
            </a:endParaRPr>
          </a:p>
          <a:p>
            <a:pPr indent="0">
              <a:spcBef>
                <a:spcPts val="224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GB" sz="900" spc="-1" strike="noStrike">
                <a:solidFill>
                  <a:srgbClr val="444444"/>
                </a:solidFill>
                <a:latin typeface="Arial"/>
              </a:rPr>
              <a:t>Government monitoring contracts</a:t>
            </a:r>
            <a:endParaRPr b="0" lang="en-US" sz="900" spc="-1" strike="noStrike">
              <a:solidFill>
                <a:srgbClr val="444444"/>
              </a:solidFill>
              <a:latin typeface="Arial"/>
            </a:endParaRPr>
          </a:p>
        </p:txBody>
      </p:sp>
      <p:sp>
        <p:nvSpPr>
          <p:cNvPr id="51" name="PlaceHolder 13"/>
          <p:cNvSpPr>
            <a:spLocks noGrp="1"/>
          </p:cNvSpPr>
          <p:nvPr>
            <p:ph/>
          </p:nvPr>
        </p:nvSpPr>
        <p:spPr>
          <a:xfrm>
            <a:off x="3962520" y="380520"/>
            <a:ext cx="1403280" cy="228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224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GB" sz="900" spc="-1" strike="noStrike">
                <a:solidFill>
                  <a:srgbClr val="444444"/>
                </a:solidFill>
                <a:latin typeface="Arial"/>
              </a:rPr>
              <a:t>AquaGuard AI</a:t>
            </a:r>
            <a:endParaRPr b="0" lang="en-US" sz="900" spc="-1" strike="noStrike">
              <a:solidFill>
                <a:srgbClr val="444444"/>
              </a:solidFill>
              <a:latin typeface="Arial"/>
            </a:endParaRPr>
          </a:p>
        </p:txBody>
      </p:sp>
      <p:sp>
        <p:nvSpPr>
          <p:cNvPr id="52" name="PlaceHolder 14"/>
          <p:cNvSpPr>
            <a:spLocks noGrp="1"/>
          </p:cNvSpPr>
          <p:nvPr>
            <p:ph/>
          </p:nvPr>
        </p:nvSpPr>
        <p:spPr>
          <a:xfrm>
            <a:off x="5684760" y="380520"/>
            <a:ext cx="1403280" cy="228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224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GB" sz="900" spc="-1" strike="noStrike">
                <a:solidFill>
                  <a:srgbClr val="444444"/>
                </a:solidFill>
                <a:latin typeface="Arial"/>
              </a:rPr>
              <a:t>Founding Team</a:t>
            </a:r>
            <a:endParaRPr b="0" lang="en-US" sz="900" spc="-1" strike="noStrike">
              <a:solidFill>
                <a:srgbClr val="444444"/>
              </a:solidFill>
              <a:latin typeface="Arial"/>
            </a:endParaRPr>
          </a:p>
        </p:txBody>
      </p:sp>
      <p:sp>
        <p:nvSpPr>
          <p:cNvPr id="53" name="PlaceHolder 15"/>
          <p:cNvSpPr>
            <a:spLocks noGrp="1"/>
          </p:cNvSpPr>
          <p:nvPr>
            <p:ph/>
          </p:nvPr>
        </p:nvSpPr>
        <p:spPr>
          <a:xfrm>
            <a:off x="7759800" y="380520"/>
            <a:ext cx="1155600" cy="228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224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GB" sz="900" spc="-1" strike="noStrike">
                <a:solidFill>
                  <a:srgbClr val="444444"/>
                </a:solidFill>
                <a:latin typeface="Arial"/>
              </a:rPr>
              <a:t>13/07/2026</a:t>
            </a:r>
            <a:endParaRPr b="0" lang="en-US" sz="900" spc="-1" strike="noStrike">
              <a:solidFill>
                <a:srgbClr val="444444"/>
              </a:solidFill>
              <a:latin typeface="Arial"/>
            </a:endParaRPr>
          </a:p>
        </p:txBody>
      </p:sp>
      <p:sp>
        <p:nvSpPr>
          <p:cNvPr id="54" name="PlaceHolder 16"/>
          <p:cNvSpPr>
            <a:spLocks noGrp="1"/>
          </p:cNvSpPr>
          <p:nvPr>
            <p:ph/>
          </p:nvPr>
        </p:nvSpPr>
        <p:spPr>
          <a:xfrm>
            <a:off x="9245160" y="380520"/>
            <a:ext cx="412920" cy="228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224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GB" sz="900" spc="-1" strike="noStrike">
                <a:solidFill>
                  <a:srgbClr val="444444"/>
                </a:solidFill>
                <a:latin typeface="Arial"/>
              </a:rPr>
              <a:t>1.0</a:t>
            </a:r>
            <a:endParaRPr b="0" lang="en-US" sz="900" spc="-1" strike="noStrike">
              <a:solidFill>
                <a:srgbClr val="444444"/>
              </a:solidFill>
              <a:latin typeface="Arial"/>
            </a:endParaRPr>
          </a:p>
        </p:txBody>
      </p:sp>
      <p:sp>
        <p:nvSpPr>
          <p:cNvPr id="55" name="Rectangle 51"/>
          <p:cNvSpPr/>
          <p:nvPr/>
        </p:nvSpPr>
        <p:spPr>
          <a:xfrm>
            <a:off x="247680" y="6458040"/>
            <a:ext cx="941076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GB" sz="700" spc="-1" strike="noStrike">
                <a:solidFill>
                  <a:srgbClr val="808080"/>
                </a:solidFill>
                <a:latin typeface="Arial"/>
                <a:ea typeface="Arial"/>
              </a:rPr>
              <a:t>Lean Canvas is adapted from The Business Model Canvas (www.businessmodelgeneration.com/canvas). PowerPoint implementation by: Neos Chronos Limited </a:t>
            </a:r>
            <a:r>
              <a:rPr b="0" lang="en-GB" sz="700" spc="-1" strike="noStrike">
                <a:solidFill>
                  <a:srgbClr val="444444"/>
                </a:solidFill>
                <a:latin typeface="Arial"/>
                <a:ea typeface="Arial"/>
              </a:rPr>
              <a:t>(https://neoschronos.com). License: </a:t>
            </a:r>
            <a:r>
              <a:rPr b="0" lang="mr-IN" sz="700" spc="-1" strike="noStrike">
                <a:solidFill>
                  <a:srgbClr val="444444"/>
                </a:solidFill>
                <a:latin typeface="Arial"/>
                <a:ea typeface="Arial"/>
              </a:rPr>
              <a:t>CC BY-SA 3.0</a:t>
            </a:r>
            <a:endParaRPr b="0" lang="en-US" sz="700" spc="-1" strike="noStrike">
              <a:solidFill>
                <a:srgbClr val="444444"/>
              </a:solidFill>
              <a:latin typeface="Calibri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700" spc="-1" strike="noStrike">
              <a:solidFill>
                <a:srgbClr val="444444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2019-04-01T16:49:19Z</dcterms:created>
  <dc:creator>Thomas Papanikolaou</dc:creator>
  <dc:description>Lean Canvas is adapted from The Business Model Canvas (www.businessmodelgeneration.com/canvas). This work is licensed under the Creative Commons Attribution-Share Alike 3.0 Unported License.</dc:description>
  <cp:keywords>Lean Canvas Template Powerpoint ppt pptx English Free</cp:keywords>
  <dc:language>en-US</dc:language>
  <cp:lastModifiedBy>Thomas Papanikolaou</cp:lastModifiedBy>
  <cp:lastPrinted>2019-04-01T19:25:48Z</cp:lastPrinted>
  <dcterms:modified xsi:type="dcterms:W3CDTF">2020-02-08T00:01:24Z</dcterms:modified>
  <cp:revision>30</cp:revision>
  <dc:subject/>
  <dc:title>Lean Canvas Template PPT</dc:title>
</cp:coreProperties>
</file>